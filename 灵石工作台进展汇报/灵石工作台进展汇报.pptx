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presProps" Target="presProps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position: 'relative', overflow: 'hidden', background: '#1F2937', fontFamily: 'Microsoft YaHei' }}&gt;&#10;    {/* L1 全幅主视觉 */}&#10;    &lt;Image src='assets/cover_control_room.png' style={{ position: 'absolute', top: 0, left: 0, width: 1280, height: 720, objectFit: 'cover' }} /&gt;&#10;&#10;    {/* 左侧压暗层，保证文字可读 */}&#10;    &lt;Box style={{ position: 'absolute', top: 0, left: 0, width: 1280, height: 720, background: 'linear-gradient(90deg, rgba(47,85,151,0.95) 0%, rgba(47,85,151,0.72) 44%, rgba(47,85,151,0.14) 100%)' }} /&gt;&#10;&#10;    {/* 骑线文字 */}&#10;    &lt;Box style={{ position: 'absolute', left: 84, top: 158, width: 640, flexDirection: 'column' }}&gt;&#10;        &lt;Text style={{ fontSize: 15, fontWeight: 'bold', color: '#E2703A', letterSpacing: 4 }}&gt;&#10;            灵石解决方案工作台 · LINX WORKBENCH&#10;        &lt;/Text&gt;&#10;        &lt;Text style={{ fontSize: 76, fontWeight: 'bold', color: '#FFFFFF', lineHeight: 1.15, marginTop: 26 }}&gt;&#10;            从现场录音&lt;br /&gt;到标准方案材料&#10;        &lt;/Text&gt;&#10;        &lt;Box style={{ width: 108, height: 4, background: '#E2703A', marginTop: 30 }} /&gt;&#10;        &lt;Text style={{ fontSize: 22, color: 'rgba(255,255,255,0.90)', lineHeight: 1.65, marginTop: 28 }}&gt;&#10;            一份 66 分钟的踏勘录音，2 分钟变成结构化方案材料。&#10;        &lt;/Text&gt;&#10;        &lt;Text style={{ fontSize: 15, color: 'rgba(255,255,255,0.66)', marginTop: 34 }}&gt;&#10;            进展汇报 · 技术栈与上线路径　｜　2026-09-21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4042" r="0" b="404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F5597">
                  <a:alpha val="95000"/>
                </a:srgbClr>
              </a:gs>
              <a:gs pos="44000">
                <a:srgbClr val="2F5597">
                  <a:alpha val="72000"/>
                </a:srgbClr>
              </a:gs>
              <a:gs pos="100000">
                <a:srgbClr val="2F5597">
                  <a:alpha val="14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00100" y="150495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E2703A"/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125" b="1" spc="300">
                <a:solidFill>
                  <a:srgbClr val="E2703A"/>
                </a:solidFill>
                <a:latin typeface="Microsoft YaHei"/>
                <a:ea typeface="Microsoft YaHei"/>
              </a:rPr>
              <a:t> · LINX WORKBENCH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00100" y="1924050"/>
            <a:ext cx="6096000" cy="20002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从现场录音</a:t>
            </a:r>
            <a:endParaRPr/>
          </a:p>
          <a:p>
            <a:pPr>
              <a:lnSpc>
                <a:spcPct val="114999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到标准方案材料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00100" y="4210050"/>
            <a:ext cx="1028700" cy="38100"/>
          </a:xfrm>
          <a:prstGeom prst="rect">
            <a:avLst/>
          </a:prstGeom>
          <a:solidFill>
            <a:srgbClr val="E2703A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4514850"/>
            <a:ext cx="6096000" cy="4191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一份</a:t>
            </a:r>
            <a:r>
              <a:rPr lang="en-US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66 </a:t>
            </a: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分钟的踏勘录音，</a:t>
            </a:r>
            <a:r>
              <a:rPr lang="en-US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2 </a:t>
            </a: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分钟变成结构化方案材料。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525780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进展汇报</a:t>
            </a:r>
            <a:r>
              <a:rPr lang="en-US" sz="1125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技术栈与上线路径　｜　</a:t>
            </a:r>
            <a:r>
              <a:rPr lang="en-US" sz="1125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2026-09-21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 style={{ width: 1280, height: 720, padding: '20px 64px', flexDirection: 'column', background: '#FFFFFF', fontFamily: 'Microsoft YaHei' }}&gt;&#10;    {/* A · 标题块 108px */}&#10;    &lt;Box style={{ height: 108, flexDirection: 'column', justifyContent: 'center' }}&gt;&#10;        &lt;Text style={{ fontSize: 14, fontWeight: 'bold', color: '#2F5597', letterSpacing: 2 }}&gt;现状 · PROBLEM&lt;/Text&gt;&#10;        &lt;Text style={{ fontSize: 34, fontWeight: 'bold', color: '#1F2937', marginTop: 10 }}&gt;三条现状，把方案产出卡在同一个环节&lt;/Text&gt;&#10;    &lt;/Box&gt;&#10;&#10;    {/* B · 内容区 524px */}&#10;    &lt;Box style={{ height: 524, flexDirection: 'row', gap: 32 }}&gt;&#10;        {/* 左栏 65% */}&#10;        &lt;Box style={{ flex: 65, flexDirection: 'column', justifyContent: 'space-between' }}&gt;&#10;            &lt;Box style={{ flexDirection: 'row', gap: 20 }}&gt;&#10;                &lt;Text style={{ fontSize: 44, fontWeight: 'bold', color: 'rgba(47,85,151,0.28)', lineHeight: 1 }}&gt;01&lt;/Text&gt;&#10;                &lt;Box style={{ flexDirection: 'column', gap: 10 }}&gt;&#10;                    &lt;Text style={{ fontSize: 22, fontWeight: 'bold', color: '#1F2937' }}&gt;2 小时录音，半天到一天整理&lt;/Text&gt;&#10;                    &lt;Text style={{ fontSize: 18, color: 'rgba(31,41,55,0.68)', lineHeight: 1.65 }}&gt;一次踏勘录 2 小时，先转文字、再整理成踏勘表，一名方案人员要花半天到一天。整理质量还取决于当天状态。&lt;/Text&gt;&#10;                &lt;/Box&gt;&#10;            &lt;/Box&gt;&#10;&#10;            &lt;Box style={{ flexDirection: 'row', gap: 20 }}&gt;&#10;                &lt;Text style={{ fontSize: 44, fontWeight: 'bold', color: 'rgba(47,85,151,0.28)', lineHeight: 1 }}&gt;02&lt;/Text&gt;&#10;                &lt;Box style={{ flexDirection: 'column', gap: 10 }}&gt;&#10;                    &lt;Text style={{ fontSize: 22, fontWeight: 'bold', color: '#1F2937' }}&gt;口径不统一，漏填错填反复发生&lt;/Text&gt;&#10;                    &lt;Text style={{ fontSize: 18, color: 'rgba(31,41,55,0.68)', lineHeight: 1.65 }}&gt;五个分部各写各的，必填项与影响报价的项缺少统一约束。漏填往往要到方案评审或报价环节才被发现，返工成本高。&lt;/Text&gt;&#10;                &lt;/Box&gt;&#10;            &lt;/Box&gt;&#10;&#10;            &lt;Box style={{ flexDirection: 'row', gap: 20 }}&gt;&#10;                &lt;Text style={{ fontSize: 44, fontWeight: 'bold', color: 'rgba(47,85,151,0.28)', lineHeight: 1 }}&gt;03&lt;/Text&gt;&#10;                &lt;Box style={{ flexDirection: 'column', gap: 10 }}&gt;&#10;                    &lt;Text style={{ fontSize: 22, fontWeight: 'bold', color: '#1F2937' }}&gt;四份材料互相独立，每次从零重写&lt;/Text&gt;&#10;                    &lt;Text style={{ fontSize: 18, color: 'rgba(31,41,55,0.68)', lineHeight: 1.65 }}&gt;踏勘结果、价值卡片、交付内容、提资清单彼此独立，同一批信息被反复誊抄。材料出得慢，商机响应就被拖慢。&lt;/Text&gt;&#10;                &lt;/Box&gt;&#10;            &lt;/Box&gt;&#10;        &lt;/Box&gt;&#10;&#10;        {/* 右栏 35% */}&#10;        &lt;Box style={{ flex: 35, flexDirection: 'column', background: '#E8EEF7', borderRadius: 8, padding: 26 }}&gt;&#10;            &lt;Text style={{ fontSize: 22, fontWeight: 'bold', color: '#1F2937', lineHeight: 1.4 }}&gt;把 4 步人工&lt;br /&gt;压到 2 步&lt;/Text&gt;&#10;&#10;            &lt;Box style={{ flexDirection: 'column', gap: 7, marginTop: 22 }}&gt;&#10;                &lt;Text style={{ fontSize: 15, fontWeight: 'bold', color: 'rgba(31,41,55,0.52)', letterSpacing: 1 }}&gt;现状&lt;/Text&gt;&#10;                &lt;Text style={{ fontSize: 17, color: 'rgba(31,41,55,0.72)', lineHeight: 1.55 }}&gt;人工听录音　→　人工整理&lt;br /&gt;→　人工誊抄进表&lt;/Text&gt;&#10;            &lt;/Box&gt;&#10;&#10;            &lt;Box style={{ height: 1, background: 'rgba(47,85,151,0.18)', marginTop: 20 }} /&gt;&#10;&#10;            &lt;Box style={{ flexDirection: 'column', gap: 7, marginTop: 20 }}&gt;&#10;                &lt;Text style={{ fontSize: 15, fontWeight: 'bold', color: '#2F5597', letterSpacing: 1 }}&gt;改造后&lt;/Text&gt;&#10;                &lt;Text style={{ fontSize: 17, color: 'rgba(31,41,55,0.78)', lineHeight: 1.55 }}&gt;自动转写　→　自动提字段&lt;br /&gt;人工只做校对与补齐&lt;/Text&gt;&#10;            &lt;/Box&gt;&#10;&#10;            &lt;Box style={{ flexDirection: 'column', marginTop: 'auto', borderLeft: '3px solid #E2703A', paddingLeft: 14 }}&gt;&#10;                &lt;Text style={{ fontSize: 16, color: '#1F2937', lineHeight: 1.6 }}&gt;瓶颈不在人不够，而在「口语 → 结构化」这一段全靠手工。&lt;/Text&gt;&#10;            &lt;/Box&gt;&#10;        &lt;/Box&gt;&#10;    &lt;/Box&gt;&#10;&#10;    {/* C · 页脚条 48px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02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现状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PROBLEM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三条现状，把方案产出卡在同一个环节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476250" cy="1038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5597">
                    <a:alpha val="2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276350" y="1219200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2937"/>
                </a:solidFill>
                <a:latin typeface="Microsoft YaHei"/>
                <a:ea typeface="Microsoft YaHei"/>
              </a:rPr>
              <a:t>2 </a:t>
            </a: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小时录音，半天到一天整理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276350" y="1571625"/>
            <a:ext cx="62674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一次踏勘录</a:t>
            </a:r>
            <a:r>
              <a:rPr lang="en-US" sz="1350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小时，先转文字、再整理成踏勘表，一名方案人员要花半天到一天。整理质量还取决于当天状态。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3200400"/>
            <a:ext cx="476250" cy="1038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5597">
                    <a:alpha val="2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276350" y="3200400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口径不统一，漏填错填反复发生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276350" y="3552825"/>
            <a:ext cx="62674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五个分部各写各的，必填项与影响报价的项缺少统一约束。漏填往往要到方案评审或报价环节才被发现，返工成本高。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5172075"/>
            <a:ext cx="476250" cy="1038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5597">
                    <a:alpha val="2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276350" y="517207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四份材料互相独立，每次从零重写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276350" y="5524500"/>
            <a:ext cx="62674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踏勘结果、价值卡片、交付内容、提资清单彼此独立，同一批信息被反复誊抄。材料出得慢，商机响应就被拖慢。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848600" y="1219200"/>
            <a:ext cx="3733800" cy="4991100"/>
          </a:xfrm>
          <a:prstGeom prst="roundRect">
            <a:avLst>
              <a:gd name="adj" fmla="val 2041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96250" y="1466850"/>
            <a:ext cx="3238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把</a:t>
            </a:r>
            <a:r>
              <a:rPr lang="en-US" sz="1650" b="1">
                <a:solidFill>
                  <a:srgbClr val="1F2937"/>
                </a:solidFill>
                <a:latin typeface="Microsoft YaHei"/>
                <a:ea typeface="Microsoft YaHei"/>
              </a:rPr>
              <a:t> 4 </a:t>
            </a: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步人工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压到</a:t>
            </a:r>
            <a:r>
              <a:rPr lang="en-US" sz="1650" b="1">
                <a:solidFill>
                  <a:srgbClr val="1F2937"/>
                </a:solidFill>
                <a:latin typeface="Microsoft YaHei"/>
                <a:ea typeface="Microsoft YaHei"/>
              </a:rPr>
              <a:t> 2 </a:t>
            </a: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96250" y="238125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F2937">
                    <a:alpha val="52000"/>
                  </a:srgbClr>
                </a:solidFill>
                <a:latin typeface="Microsoft YaHei"/>
                <a:ea typeface="Microsoft YaHei"/>
              </a:rPr>
              <a:t>现状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96250" y="2619375"/>
            <a:ext cx="3238500" cy="609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人工听录音　→　人工整理</a:t>
            </a:r>
            <a:endParaRPr/>
          </a:p>
          <a:p>
            <a:pPr>
              <a:lnSpc>
                <a:spcPct val="155000"/>
              </a:lnSpc>
            </a:pP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→　人工誊抄进表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8096250" y="3419475"/>
            <a:ext cx="3238500" cy="9525"/>
          </a:xfrm>
          <a:prstGeom prst="rect">
            <a:avLst/>
          </a:prstGeom>
          <a:solidFill>
            <a:srgbClr val="2F5597">
              <a:alpha val="18000"/>
            </a:srgbClr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096250" y="36195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2F5597"/>
                </a:solidFill>
                <a:latin typeface="Microsoft YaHei"/>
                <a:ea typeface="Microsoft YaHei"/>
              </a:rPr>
              <a:t>改造后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96250" y="3857625"/>
            <a:ext cx="3238500" cy="609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F2937">
                    <a:alpha val="78000"/>
                  </a:srgbClr>
                </a:solidFill>
                <a:latin typeface="Microsoft YaHei"/>
                <a:ea typeface="Microsoft YaHei"/>
              </a:rPr>
              <a:t>自动转写　→　自动提字段</a:t>
            </a:r>
            <a:endParaRPr/>
          </a:p>
          <a:p>
            <a:pPr>
              <a:lnSpc>
                <a:spcPct val="155000"/>
              </a:lnSpc>
            </a:pPr>
            <a:r>
              <a:rPr lang="zh-CN" sz="1275">
                <a:solidFill>
                  <a:srgbClr val="1F2937">
                    <a:alpha val="78000"/>
                  </a:srgbClr>
                </a:solidFill>
                <a:latin typeface="Microsoft YaHei"/>
                <a:ea typeface="Microsoft YaHei"/>
              </a:rPr>
              <a:t>人工只做校对与补齐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096250" y="5372100"/>
            <a:ext cx="3267075" cy="590550"/>
          </a:xfrm>
          <a:custGeom>
            <a:pathLst>
              <a:path w="343" h="62">
                <a:moveTo>
                  <a:pt x="0" y="0"/>
                </a:moveTo>
                <a:lnTo>
                  <a:pt x="3" y="0"/>
                </a:lnTo>
                <a:lnTo>
                  <a:pt x="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2703A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258175" y="5372100"/>
            <a:ext cx="3076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瓶颈不在人不够，而在「口语</a:t>
            </a:r>
            <a:r>
              <a:rPr lang="en-US" sz="1200">
                <a:solidFill>
                  <a:srgbClr val="1F2937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结构化」这一段全靠手工。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1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成果 · DELIVERED&lt;/Text&gt;&#10;        &lt;Text style={{ fontSize: 34, fontWeight: 'bold', color: '#1F2937', marginTop: 10 }}&gt;从踏勘到材料，一条闭环已经可用&lt;/Text&gt;&#10;    &lt;/Box&gt;&#10;&#10;    {/* B · 内容区 */}&#10;    &lt;Box style={{ height: 524, flexDirection: 'row', gap: 28 }}&gt;&#10;        {/* 左标题栏 32% */}&#10;        &lt;Box style={{ flex: 32, background: '#2F5597', borderRadius: 8, padding: 28, flexDirection: 'column' }}&gt;&#10;            &lt;Text style={{ fontSize: 13, fontWeight: 'bold', color: 'rgba(255,255,255,0.62)', letterSpacing: 3 }}&gt;已交付&lt;/Text&gt;&#10;            &lt;Text style={{ fontSize: 26, fontWeight: 'bold', color: '#FFFFFF', lineHeight: 1.4, marginTop: 16 }}&gt;一条闭环，&lt;br /&gt;今天就能走完&lt;/Text&gt;&#10;&#10;            &lt;Box style={{ flexDirection: 'row', gap: 16, marginTop: 34 }}&gt;&#10;                &lt;Box style={{ flex: 1, flexDirection: 'column' }}&gt;&#10;                    &lt;Text style={{ fontSize: 38, fontWeight: 'bold', color: '#FFFFFF', lineHeight: 1.1 }}&gt;2&lt;/Text&gt;&#10;                    &lt;Text style={{ fontSize: 13, color: 'rgba(255,255,255,0.70)', marginTop: 6 }}&gt;产品已上线&lt;/Text&gt;&#10;                &lt;/Box&gt;&#10;                &lt;Box style={{ flex: 1, flexDirection: 'column' }}&gt;&#10;                    &lt;Text style={{ fontSize: 38, fontWeight: 'bold', color: '#FFFFFF', lineHeight: 1.1 }}&gt;49&lt;/Text&gt;&#10;                    &lt;Text style={{ fontSize: 13, color: 'rgba(255,255,255,0.70)', marginTop: 6 }}&gt;踏勘字段&lt;/Text&gt;&#10;                &lt;/Box&gt;&#10;            &lt;/Box&gt;&#10;&#10;            &lt;Box style={{ flexDirection: 'row', gap: 16, marginTop: 22 }}&gt;&#10;                &lt;Box style={{ flex: 1, flexDirection: 'column' }}&gt;&#10;                    &lt;Text style={{ fontSize: 38, fontWeight: 'bold', color: '#FFFFFF', lineHeight: 1.1 }}&gt;11&lt;/Text&gt;&#10;                    &lt;Text style={{ fontSize: 13, color: 'rgba(255,255,255,0.70)', marginTop: 6 }}&gt;字段分组&lt;/Text&gt;&#10;                &lt;/Box&gt;&#10;                &lt;Box style={{ flex: 1, flexDirection: 'column' }}&gt;&#10;                    &lt;Text style={{ fontSize: 38, fontWeight: 'bold', color: '#FFFFFF', lineHeight: 1.1 }}&gt;4&lt;/Text&gt;&#10;                    &lt;Text style={{ fontSize: 13, color: 'rgba(255,255,255,0.70)', marginTop: 6 }}&gt;类交付材料&lt;/Text&gt;&#10;                &lt;/Box&gt;&#10;            &lt;/Box&gt;&#10;&#10;            &lt;Box style={{ marginTop: 'auto', borderTop: '1px solid rgba(255,255,255,0.22)', paddingTop: 16 }}&gt;&#10;                &lt;Text style={{ fontSize: 14, color: 'rgba(255,255,255,0.82)', lineHeight: 1.6 }}&gt;新增一个产品 = 改 2 个配置文件，代码不动。&lt;/Text&gt;&#10;            &lt;/Box&gt;&#10;        &lt;/Box&gt;&#10;&#10;        {/* 右内容区 68% */}&#10;        &lt;Box style={{ flex: 68, flexDirection: 'column', justifyContent: 'space-between' }}&gt;&#10;            &lt;Box style={{ flexDirection: 'row', gap: 14 }}&gt;&#10;                &lt;FAIcon name='check-circle' style={{ fill: '#2F5597', width: 22, height: 22 }} /&gt;&#10;                &lt;Box style={{ flexDirection: 'column', gap: 4 }}&gt;&#10;                    &lt;Text style={{ fontSize: 19, fontWeight: 'bold', color: '#1F2937' }}&gt;一条闭环已跑通&lt;/Text&gt;&#10;                    &lt;Text style={{ fontSize: 16, color: 'rgba(31,41,55,0.66)' }}&gt;项目 → 录音/文字稿 → AI 提字段 → 人工确认 → 生成材料 → 打包 ZIP&lt;/Text&gt;&#10;                &lt;/Box&gt;&#10;            &lt;/Box&gt;&#10;&#10;            &lt;Box style={{ flexDirection: 'row', gap: 14 }}&gt;&#10;                &lt;FAIcon name='check-circle' style={{ fill: '#2F5597', width: 22, height: 22 }} /&gt;&#10;                &lt;Box style={{ flexDirection: 'column', gap: 4 }}&gt;&#10;                    &lt;Text style={{ fontSize: 19, fontWeight: 'bold', color: '#1F2937' }}&gt;2 个产品已上线&lt;/Text&gt;&#10;                    &lt;Text style={{ fontSize: 16, color: 'rgba(31,41,55,0.66)' }}&gt;安全管家、消防管家；能源管家与设备管家已排入产品路线&lt;/Text&gt;&#10;                &lt;/Box&gt;&#10;            &lt;/Box&gt;&#10;&#10;            &lt;Box style={{ flexDirection: 'row', gap: 14 }}&gt;&#10;                &lt;FAIcon name='check-circle' style={{ fill: '#2F5597', width: 22, height: 22 }} /&gt;&#10;                &lt;Box style={{ flexDirection: 'column', gap: 4 }}&gt;&#10;                    &lt;Text style={{ fontSize: 19, fontWeight: 'bold', color: '#1F2937' }}&gt;49 个踏勘字段，与一线收资表逐条对齐&lt;/Text&gt;&#10;                    &lt;Text style={{ fontSize: 16, color: 'rgba(31,41,55,0.66)' }}&gt;11 个分组、34 个必填项，字段口径不再由各分部自行发挥&lt;/Text&gt;&#10;                &lt;/Box&gt;&#10;            &lt;/Box&gt;&#10;&#10;            &lt;Box style={{ flexDirection: 'row', gap: 14 }}&gt;&#10;                &lt;FAIcon name='check-circle' style={{ fill: '#2F5597', width: 22, height: 22 }} /&gt;&#10;                &lt;Box style={{ flexDirection: 'column', gap: 4 }}&gt;&#10;                    &lt;Text style={{ fontSize: 19, fontWeight: 'bold', color: '#1F2937' }}&gt;4 类交付材料，一次勾选生成&lt;/Text&gt;&#10;                    &lt;Text style={{ fontSize: 16, color: 'rgba(31,41,55,0.66)' }}&gt;完整踏勘结果、价值卡片、交付内容、提资基础内容&lt;/Text&gt;&#10;                &lt;/Box&gt;&#10;            &lt;/Box&gt;&#10;&#10;            &lt;Box style={{ flexDirection: 'row', gap: 14 }}&gt;&#10;                &lt;FAIcon name='check-circle' style={{ fill: '#2F5597', width: 22, height: 22 }} /&gt;&#10;                &lt;Box style={{ flexDirection: 'column', gap: 4 }}&gt;&#10;                    &lt;Text style={{ fontSize: 19, fontWeight: 'bold', color: '#1F2937' }}&gt;每个字段可追溯&lt;/Text&gt;&#10;                    &lt;Text style={{ fontSize: 16, color: 'rgba(31,41,55,0.66)' }}&gt;记录来源、置信度、确认状态与版本；人工确认过的值不会被再次解析覆盖&lt;/Text&gt;&#10;                &lt;/Box&gt;&#10;            &lt;/Box&gt;&#10;&#10;            &lt;Box style={{ flexDirection: 'row', gap: 14 }}&gt;&#10;                &lt;FAIcon name='check-circle' style={{ fill: '#2F5597', width: 22, height: 22 }} /&gt;&#10;                &lt;Box style={{ flexDirection: 'column', gap: 4 }}&gt;&#10;                    &lt;Text style={{ fontSize: 19, fontWeight: 'bold', color: '#1F2937' }}&gt;质量门禁常态化&lt;/Text&gt;&#10;                    &lt;Text style={{ fontSize: 16, color: 'rgba(31,41,55,0.66)' }}&gt;配置校验、单元测试、主流程自测三条线，每次改动都要跑通&lt;/Text&gt;&#10;                &lt;/Box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03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成果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DELIVERED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从踏勘到材料，一条闭环已经可用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1219200"/>
            <a:ext cx="3429000" cy="499110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76300" y="1485900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已交付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76300" y="1790700"/>
            <a:ext cx="28956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一条闭环，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今天就能走完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76300" y="2952750"/>
            <a:ext cx="13716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76300" y="3495675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产品已上线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2400300" y="2952750"/>
            <a:ext cx="13716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49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400300" y="3495675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踏勘字段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76300" y="3857625"/>
            <a:ext cx="13716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76300" y="4400550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字段分组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2400300" y="3857625"/>
            <a:ext cx="13716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2400300" y="4400550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类交付材料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76300" y="5524500"/>
            <a:ext cx="2895600" cy="428625"/>
          </a:xfrm>
          <a:custGeom>
            <a:pathLst>
              <a:path w="304" h="45">
                <a:moveTo>
                  <a:pt x="0" y="0"/>
                </a:moveTo>
                <a:lnTo>
                  <a:pt x="304" y="0"/>
                </a:lnTo>
                <a:lnTo>
                  <a:pt x="3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76300" y="568642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新增一个产品</a:t>
            </a:r>
            <a:r>
              <a:rPr lang="en-US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改</a:t>
            </a:r>
            <a:r>
              <a:rPr lang="en-US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 2 </a:t>
            </a:r>
            <a:r>
              <a:rPr lang="zh-CN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个配置文件，代码不动。</a:t>
            </a:r>
            <a:endParaRPr/>
          </a:p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1219200"/>
            <a:ext cx="209550" cy="20955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648200" y="1219200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一条闭环已跑通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648200" y="1476375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项目</a:t>
            </a: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录音</a:t>
            </a: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文字稿</a:t>
            </a: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 → AI </a:t>
            </a: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提字段</a:t>
            </a: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人工确认</a:t>
            </a: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生成材料</a:t>
            </a: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打包</a:t>
            </a: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 ZIP</a:t>
            </a:r>
            <a:endParaRPr/>
          </a:p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2124075"/>
            <a:ext cx="209550" cy="209550"/>
          </a:xfrm>
          <a:prstGeom prst="rect">
            <a:avLst/>
          </a:prstGeom>
          <a:ln/>
        </p:spPr>
      </p:pic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648200" y="2124075"/>
            <a:ext cx="396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2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个产品已上线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648200" y="2381250"/>
            <a:ext cx="396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安全管家、消防管家；能源管家与设备管家已排入产品路线</a:t>
            </a:r>
            <a:endParaRPr/>
          </a:p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3038475"/>
            <a:ext cx="209550" cy="209550"/>
          </a:xfrm>
          <a:prstGeom prst="rect">
            <a:avLst/>
          </a:prstGeom>
          <a:ln/>
        </p:spPr>
      </p:pic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648200" y="3038475"/>
            <a:ext cx="3952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49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个踏勘字段，与一线收资表逐条对齐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648200" y="3295650"/>
            <a:ext cx="3952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11 </a:t>
            </a: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个分组、</a:t>
            </a:r>
            <a:r>
              <a:rPr lang="en-US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34 </a:t>
            </a: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个必填项，字段口径不再由各分部自行发挥</a:t>
            </a:r>
            <a:endParaRPr/>
          </a:p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3943350"/>
            <a:ext cx="209550" cy="20955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648200" y="3943350"/>
            <a:ext cx="3505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4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类交付材料，一次勾选生成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648200" y="4200525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完整踏勘结果、价值卡片、交付内容、提资基础内容</a:t>
            </a:r>
            <a:endParaRPr/>
          </a:p>
        </p:txBody>
      </p:sp>
      <p:pic>
        <p:nvPicPr>
          <p:cNvPr id="1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4857750"/>
            <a:ext cx="209550" cy="20955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648200" y="4857750"/>
            <a:ext cx="5029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每个字段可追溯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648200" y="511492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记录来源、置信度、确认状态与版本；人工确认过的值不会被再次解析覆盖</a:t>
            </a:r>
            <a:endParaRPr/>
          </a:p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5762625"/>
            <a:ext cx="209550" cy="20955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648200" y="57626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质量门禁常态化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648200" y="601980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配置校验、单元测试、主流程自测三条线，每次改动都要跑通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48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证据 · EVIDENCE&lt;/Text&gt;&#10;        &lt;Text style={{ fontSize: 34, fontWeight: 'bold', color: '#1F2937', marginTop: 10 }}&gt;不是演示脚本，是真实录音跑通的结果&lt;/Text&gt;&#10;    &lt;/Box&gt;&#10;&#10;    {/* B · 内容区 */}&#10;    &lt;Box style={{ height: 524, flexDirection: 'row', gap: 44 }}&gt;&#10;        {/* 左：巨型数字 */}&#10;        &lt;Box style={{ flex: 56, flexDirection: 'column' }}&gt;&#10;            &lt;Text style={{ fontSize: 15, fontWeight: 'bold', color: 'rgba(31,41,55,0.48)', letterSpacing: 2 }}&gt;真实录音实测 · 2026-09-19&lt;/Text&gt;&#10;&#10;            &lt;Box style={{ flexDirection: 'row', alignItems: 'flex-end', marginTop: 22 }}&gt;&#10;                &lt;Text style={{ fontSize: 104, fontWeight: 'bold', color: '#E2703A', lineHeight: 1 }}&gt;2&lt;/Text&gt;&#10;                &lt;Text style={{ fontSize: 44, fontWeight: 'bold', color: '#E2703A', lineHeight: 1, marginLeft: 12, marginBottom: 12 }}&gt;分钟&lt;/Text&gt;&#10;            &lt;/Box&gt;&#10;&#10;            &lt;Text style={{ fontSize: 20, fontWeight: 'bold', color: '#1F2937', marginTop: 18 }}&gt;从上传到转写完成&lt;/Text&gt;&#10;            &lt;Text style={{ fontSize: 17, color: 'rgba(31,41,55,0.68)', lineHeight: 1.6, marginTop: 10 }}&gt;66 分钟的真实手机录音，一次跑通。带说话人分离；转写结果立即落库，厂商侧清理不影响结果。&lt;/Text&gt;&#10;&#10;            &lt;Box style={{ marginTop: 'auto', borderLeft: '3px solid #E2703A', paddingLeft: 16, paddingTop: 2, paddingBottom: 2 }}&gt;&#10;                &lt;Text style={{ fontSize: 18, color: '#1F2937', lineHeight: 1.65 }}&gt;判断：值不值得继续投人推进，看的是这一页 —— 真实数据能跑通，才谈得上试点。&lt;/Text&gt;&#10;            &lt;/Box&gt;&#10;        &lt;/Box&gt;&#10;&#10;        {/* 右：三组对照 */}&#10;        &lt;Box style={{ flex: 44, flexDirection: 'column', justifyContent: 'space-between' }}&gt;&#10;            &lt;Box style={{ background: '#E8EEF7', borderRadius: 8, padding: 22, flexDirection: 'column' }}&gt;&#10;                &lt;Box style={{ flexDirection: 'row', alignItems: 'flex-end' }}&gt;&#10;                    &lt;Text style={{ fontSize: 34, fontWeight: 'bold', color: '#2F5597', lineHeight: 1 }}&gt;66&lt;/Text&gt;&#10;                    &lt;Text style={{ fontSize: 16, fontWeight: 'bold', color: '#2F5597', lineHeight: 1, marginLeft: 6, marginBottom: 3 }}&gt;分钟&lt;/Text&gt;&#10;                &lt;/Box&gt;&#10;                &lt;Text style={{ fontSize: 17, fontWeight: 'bold', color: '#1F2937', marginTop: 12 }}&gt;录音时长&lt;/Text&gt;&#10;                &lt;Text style={{ fontSize: 15, color: 'rgba(31,41,55,0.64)', lineHeight: 1.5, marginTop: 5 }}&gt;一次完整踏勘的原始录音，不是剪辑样本&lt;/Text&gt;&#10;            &lt;/Box&gt;&#10;&#10;            &lt;Box style={{ background: '#E8EEF7', borderRadius: 8, padding: 22, flexDirection: 'column' }}&gt;&#10;                &lt;Box style={{ flexDirection: 'row', alignItems: 'flex-end' }}&gt;&#10;                    &lt;Text style={{ fontSize: 34, fontWeight: 'bold', color: '#2F5597', lineHeight: 1 }}&gt;33.9&lt;/Text&gt;&#10;                    &lt;Text style={{ fontSize: 16, fontWeight: 'bold', color: '#2F5597', lineHeight: 1, marginLeft: 6, marginBottom: 3 }}&gt;MB&lt;/Text&gt;&#10;                &lt;/Box&gt;&#10;                &lt;Text style={{ fontSize: 17, fontWeight: 'bold', color: '#1F2937', marginTop: 12 }}&gt;文件体积&lt;/Text&gt;&#10;                &lt;Text style={{ fontSize: 15, color: 'rgba(31,41,55,0.64)', lineHeight: 1.5, marginTop: 5 }}&gt;手机直接录制，无需额外转码&lt;/Text&gt;&#10;            &lt;/Box&gt;&#10;&#10;            &lt;Box style={{ background: '#E8EEF7', borderRadius: 8, padding: 22, flexDirection: 'column' }}&gt;&#10;                &lt;Box style={{ flexDirection: 'row', alignItems: 'flex-end' }}&gt;&#10;                    &lt;Text style={{ fontSize: 34, fontWeight: 'bold', color: '#E2703A', lineHeight: 1 }}&gt;3&lt;/Text&gt;&#10;                    &lt;Text style={{ fontSize: 16, fontWeight: 'bold', color: '#E2703A', lineHeight: 1, marginLeft: 6, marginBottom: 3 }}&gt;条门禁全绿&lt;/Text&gt;&#10;                &lt;/Box&gt;&#10;                &lt;Text style={{ fontSize: 17, fontWeight: 'bold', color: '#1F2937', marginTop: 12 }}&gt;质量门禁（2026-09-20 实测）&lt;/Text&gt;&#10;                &lt;Text style={{ fontSize: 15, color: 'rgba(31,41,55,0.64)', lineHeight: 1.5, marginTop: 5 }}&gt;配置校验 0 错 0 警 · 单元测试 16/16 · 主流程自测 73/73&lt;/Text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04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证据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EVIDENCE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不是演示脚本，是真实录音跑通的结果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真实录音实测</a:t>
            </a:r>
            <a:r>
              <a:rPr lang="en-US" sz="1125" b="1" spc="150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 · 2026-09-19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61912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E2703A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343025" y="2171700"/>
            <a:ext cx="838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E2703A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2962275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从上传到转写完成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3286125"/>
            <a:ext cx="5905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66 </a:t>
            </a:r>
            <a:r>
              <a:rPr lang="zh-CN" sz="1275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分钟的真实手机录音，一次跑通。带说话人分离；转写结果立即落库，厂商侧清理不影响结果。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5486400"/>
            <a:ext cx="5934075" cy="723900"/>
          </a:xfrm>
          <a:custGeom>
            <a:pathLst>
              <a:path w="623" h="76">
                <a:moveTo>
                  <a:pt x="0" y="0"/>
                </a:moveTo>
                <a:lnTo>
                  <a:pt x="3" y="0"/>
                </a:lnTo>
                <a:lnTo>
                  <a:pt x="3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2703A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90575" y="5505450"/>
            <a:ext cx="57245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</a:rPr>
              <a:t>判断：值不值得继续投人推进，看的是这一页</a:t>
            </a:r>
            <a:r>
              <a:rPr lang="en-US" sz="1350">
                <a:solidFill>
                  <a:srgbClr val="1F2937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</a:rPr>
              <a:t>真实数据能跑通，才谈得上试点。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934200" y="1219200"/>
            <a:ext cx="4648200" cy="142875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143750" y="142875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F5597"/>
                </a:solidFill>
                <a:latin typeface="Microsoft YaHei"/>
                <a:ea typeface="Microsoft YaHei"/>
              </a:rPr>
              <a:t>66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600950" y="1600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F5597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143750" y="1933575"/>
            <a:ext cx="422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录音时长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143750" y="2181225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一次完整踏勘的原始录音，不是剪辑样本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934200" y="3000375"/>
            <a:ext cx="4648200" cy="142875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143750" y="3209925"/>
            <a:ext cx="695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F5597"/>
                </a:solidFill>
                <a:latin typeface="Microsoft YaHei"/>
                <a:ea typeface="Microsoft YaHei"/>
              </a:rPr>
              <a:t>33.9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896225" y="3381375"/>
            <a:ext cx="26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F5597"/>
                </a:solidFill>
                <a:latin typeface="Microsoft YaHei"/>
                <a:ea typeface="Microsoft YaHei"/>
              </a:rPr>
              <a:t>MB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143750" y="3714750"/>
            <a:ext cx="422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文件体积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143750" y="3962400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手机直接录制，无需额外转码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934200" y="4781550"/>
            <a:ext cx="4648200" cy="142875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143750" y="4991100"/>
            <a:ext cx="200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2703A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400925" y="51625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703A"/>
                </a:solidFill>
                <a:latin typeface="Microsoft YaHei"/>
                <a:ea typeface="Microsoft YaHei"/>
              </a:rPr>
              <a:t>条门禁全绿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143750" y="5495925"/>
            <a:ext cx="422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质量门禁（</a:t>
            </a:r>
            <a:r>
              <a:rPr lang="en-US" sz="1275" b="1">
                <a:solidFill>
                  <a:srgbClr val="1F2937"/>
                </a:solidFill>
                <a:latin typeface="Microsoft YaHei"/>
                <a:ea typeface="Microsoft YaHei"/>
              </a:rPr>
              <a:t>2026-09-20 </a:t>
            </a: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实测）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143750" y="5743575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配置校验</a:t>
            </a:r>
            <a:r>
              <a:rPr lang="en-US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 0 </a:t>
            </a:r>
            <a:r>
              <a:rPr lang="zh-CN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错</a:t>
            </a:r>
            <a:r>
              <a:rPr lang="en-US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 0 </a:t>
            </a:r>
            <a:r>
              <a:rPr lang="zh-CN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警</a:t>
            </a:r>
            <a:r>
              <a:rPr lang="en-US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单元测试</a:t>
            </a:r>
            <a:r>
              <a:rPr lang="en-US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 16/16 · </a:t>
            </a:r>
            <a:r>
              <a:rPr lang="zh-CN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主流程自测</a:t>
            </a:r>
            <a:r>
              <a:rPr lang="en-US" sz="1125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 73/73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技术栈 · STACK&lt;/Text&gt;&#10;        &lt;Text style={{ fontSize: 34, fontWeight: 'bold', color: '#1F2937', marginTop: 10 }}&gt;技术栈只有 4 个依赖，选型全部为了「好改」&lt;/Text&gt;&#10;    &lt;/Box&gt;&#10;&#10;    {/* B · 内容区 */}&#10;    &lt;Box style={{ height: 524, flexDirection: 'row', gap: 36 }}&gt;&#10;        {/* 左窄栏 38%：技术分层阶梯 */}&#10;        &lt;Box style={{ flex: 38, flexDirection: 'column' }}&gt;&#10;            &lt;Box style={{ borderLeft: '3px solid rgba(47,85,151,0.22)', paddingLeft: 16, flexDirection: 'column' }}&gt;&#10;                &lt;Text style={{ fontSize: 13, fontWeight: 'bold', color: 'rgba(31,41,55,0.48)', letterSpacing: 1 }}&gt;前端&lt;/Text&gt;&#10;                &lt;Text style={{ fontSize: 19, fontWeight: 'bold', color: '#1F2937', marginTop: 5 }}&gt;原生 HTML / CSS / JS&lt;/Text&gt;&#10;            &lt;/Box&gt;&#10;&#10;            &lt;Box style={{ borderLeft: '3px solid rgba(47,85,151,0.22)', paddingLeft: 16, flexDirection: 'column', marginTop: 26 }}&gt;&#10;                &lt;Text style={{ fontSize: 13, fontWeight: 'bold', color: 'rgba(31,41,55,0.48)', letterSpacing: 1 }}&gt;接入层&lt;/Text&gt;&#10;                &lt;Text style={{ fontSize: 19, fontWeight: 'bold', color: '#1F2937', marginTop: 5 }}&gt;Python 3 + Flask 路由&lt;/Text&gt;&#10;            &lt;/Box&gt;&#10;&#10;            &lt;Box style={{ borderLeft: '3px solid rgba(47,85,151,0.22)', paddingLeft: 16, flexDirection: 'column', marginTop: 26 }}&gt;&#10;                &lt;Text style={{ fontSize: 13, fontWeight: 'bold', color: 'rgba(31,41,55,0.48)', letterSpacing: 1 }}&gt;页面渲染&lt;/Text&gt;&#10;                &lt;Text style={{ fontSize: 19, fontWeight: 'bold', color: '#1F2937', marginTop: 5 }}&gt;Jinja2 模板&lt;/Text&gt;&#10;            &lt;/Box&gt;&#10;&#10;            &lt;Box style={{ borderLeft: '3px solid rgba(47,85,151,0.22)', paddingLeft: 16, flexDirection: 'column', marginTop: 26 }}&gt;&#10;                &lt;Text style={{ fontSize: 13, fontWeight: 'bold', color: 'rgba(31,41,55,0.48)', letterSpacing: 1 }}&gt;领域与配置&lt;/Text&gt;&#10;                &lt;Text style={{ fontSize: 19, fontWeight: 'bold', color: '#1F2937', marginTop: 5 }}&gt;core 能力层 + JSON 配置&lt;/Text&gt;&#10;            &lt;/Box&gt;&#10;&#10;            &lt;Box style={{ borderLeft: '3px solid #2F5597', paddingLeft: 16, flexDirection: 'column', marginTop: 26 }}&gt;&#10;                &lt;Text style={{ fontSize: 13, fontWeight: 'bold', color: '#2F5597', letterSpacing: 1 }}&gt;数据&lt;/Text&gt;&#10;                &lt;Text style={{ fontSize: 19, fontWeight: 'bold', color: '#1F2937', marginTop: 5 }}&gt;SQLite（WAL 模式）&lt;/Text&gt;&#10;            &lt;/Box&gt;&#10;&#10;            &lt;Box style={{ marginTop: 'auto', background: '#E8EEF7', borderRadius: 8, padding: '14px 18px' }}&gt;&#10;                &lt;Text style={{ fontSize: 15, color: '#1F2937', lineHeight: 1.55 }}&gt;生产依赖仅 4 个包：Flask · Waitress · 腾讯云 COS SDK · 腾讯云 ASR SDK&lt;/Text&gt;&#10;            &lt;/Box&gt;&#10;        &lt;/Box&gt;&#10;&#10;        {/* 右宽栏 62%：选型约束 */}&#10;        &lt;Box style={{ flex: 62, flexDirection: 'column', justifyContent: 'space-between' }}&gt;&#10;            &lt;Box style={{ flexDirection: 'column', gap: 6 }}&gt;&#10;                &lt;Text style={{ fontSize: 20, fontWeight: 'bold', color: '#2F5597' }}&gt;不引入 Vue / React&lt;/Text&gt;&#10;                &lt;Text style={{ fontSize: 17, color: 'rgba(31,41,55,0.72)', lineHeight: 1.6 }}&gt;当前交互复杂度不值得背上前端构建链。页面由服务端模板渲染，浏览器端只有少量原生 JavaScript 做自动保存。加一页不用改构建流程。&lt;/Text&gt;&#10;            &lt;/Box&gt;&#10;&#10;            &lt;Box style={{ flexDirection: 'column', gap: 6 }}&gt;&#10;                &lt;Text style={{ fontSize: 20, fontWeight: 'bold', color: '#2F5597' }}&gt;业务知识全部外置到配置&lt;/Text&gt;&#10;                &lt;Text style={{ fontSize: 17, color: 'rgba(31,41,55,0.72)', lineHeight: 1.6 }}&gt;字段、生成物、部门、材料目录全部由 JSON 定义，代码里没有业务硬编码。字段模型按「公共字段包 + 产品组装」组织，同一批字段能被多个产品复用。&lt;/Text&gt;&#10;            &lt;/Box&gt;&#10;&#10;            &lt;Box style={{ flexDirection: 'column', gap: 6 }}&gt;&#10;                &lt;Text style={{ fontSize: 20, fontWeight: 'bold', color: '#2F5597' }}&gt;外部能力全部走接口&lt;/Text&gt;&#10;                &lt;Text style={{ fontSize: 17, color: 'rgba(31,41,55,0.72)', lineHeight: 1.6 }}&gt;语音识别、对象存储、大模型都封装成厂商无关的接口。将来换厂商，只换一个实现文件，业务代码零改动。&lt;/Text&gt;&#10;            &lt;/Box&gt;&#10;&#10;            &lt;Box style={{ flexDirection: 'column', gap: 6 }}&gt;&#10;                &lt;Text style={{ fontSize: 20, fontWeight: 'bold', color: '#2F5597' }}&gt;密钥绝不落库&lt;/Text&gt;&#10;                &lt;Text style={{ fontSize: 17, color: 'rgba(31,41,55,0.72)', lineHeight: 1.6 }}&gt;所有密钥只从环境变量读取，不写进配置文件、数据库、日志或页面；页面只显示「已配置 / 未配置」。&lt;/Text&gt;&#10;            &lt;/Box&gt;&#10;&#10;            &lt;Box style={{ flexDirection: 'row', gap: 12 }}&gt;&#10;                &lt;Box style={{ background: '#E8EEF7', borderRadius: 20, padding: '10px 18px' }}&gt;&#10;                    &lt;Text style={{ fontSize: 15, fontWeight: 'bold', color: '#2F5597' }}&gt;腾讯云 ASR&lt;/Text&gt;&#10;                &lt;/Box&gt;&#10;                &lt;Box style={{ background: '#E8EEF7', borderRadius: 20, padding: '10px 18px' }}&gt;&#10;                    &lt;Text style={{ fontSize: 15, fontWeight: 'bold', color: '#2F5597' }}&gt;腾讯云 COS&lt;/Text&gt;&#10;                &lt;/Box&gt;&#10;                &lt;Box style={{ background: '#E8EEF7', borderRadius: 20, padding: '10px 18px' }}&gt;&#10;                    &lt;Text style={{ fontSize: 15, fontWeight: 'bold', color: '#2F5597' }}&gt;DeepSeek 大模型&lt;/Text&gt;&#10;                &lt;/Box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05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技术栈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STACK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技术栈只有</a:t>
            </a:r>
            <a:r>
              <a:rPr lang="en-US" sz="2550" b="1">
                <a:solidFill>
                  <a:srgbClr val="1F2937"/>
                </a:solidFill>
                <a:latin typeface="Microsoft YaHei"/>
                <a:ea typeface="Microsoft YaHei"/>
              </a:rPr>
              <a:t> 4 </a:t>
            </a: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个依赖，选型全部为了「好改」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219200"/>
            <a:ext cx="4067175" cy="419100"/>
          </a:xfrm>
          <a:custGeom>
            <a:pathLst>
              <a:path w="42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F5597">
              <a:alpha val="22000"/>
            </a:srgbClr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90575" y="1219200"/>
            <a:ext cx="385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90575" y="1419225"/>
            <a:ext cx="3857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原生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HTML / CSS / JS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1885950"/>
            <a:ext cx="4067175" cy="419100"/>
          </a:xfrm>
          <a:custGeom>
            <a:pathLst>
              <a:path w="42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F5597">
              <a:alpha val="22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90575" y="1885950"/>
            <a:ext cx="385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90575" y="2085975"/>
            <a:ext cx="3857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Python 3 + Flask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路由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2552700"/>
            <a:ext cx="4067175" cy="419100"/>
          </a:xfrm>
          <a:custGeom>
            <a:pathLst>
              <a:path w="42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F5597">
              <a:alpha val="22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90575" y="2552700"/>
            <a:ext cx="385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页面渲染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90575" y="2752725"/>
            <a:ext cx="3857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Jinja2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3219450"/>
            <a:ext cx="4067175" cy="419100"/>
          </a:xfrm>
          <a:custGeom>
            <a:pathLst>
              <a:path w="42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F5597">
              <a:alpha val="22000"/>
            </a:srgbClr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90575" y="3219450"/>
            <a:ext cx="385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领域与配置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90575" y="3419475"/>
            <a:ext cx="3857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core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能力层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+ JSON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配置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3886200"/>
            <a:ext cx="4067175" cy="419100"/>
          </a:xfrm>
          <a:custGeom>
            <a:pathLst>
              <a:path w="42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F5597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90575" y="3886200"/>
            <a:ext cx="385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2F5597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90575" y="4086225"/>
            <a:ext cx="3857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SQLite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（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WAL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模式）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5410200"/>
            <a:ext cx="4038600" cy="80010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81050" y="5543550"/>
            <a:ext cx="36957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1F2937"/>
                </a:solidFill>
                <a:latin typeface="Microsoft YaHei"/>
                <a:ea typeface="Microsoft YaHei"/>
              </a:rPr>
              <a:t>生产依赖仅</a:t>
            </a:r>
            <a:r>
              <a:rPr lang="en-US" sz="1125">
                <a:solidFill>
                  <a:srgbClr val="1F2937"/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1F2937"/>
                </a:solidFill>
                <a:latin typeface="Microsoft YaHei"/>
                <a:ea typeface="Microsoft YaHei"/>
              </a:rPr>
              <a:t>个包：</a:t>
            </a:r>
            <a:r>
              <a:rPr lang="en-US" sz="1125">
                <a:solidFill>
                  <a:srgbClr val="1F2937"/>
                </a:solidFill>
                <a:latin typeface="Microsoft YaHei"/>
                <a:ea typeface="Microsoft YaHei"/>
              </a:rPr>
              <a:t>Flask · Waitress · </a:t>
            </a:r>
            <a:r>
              <a:rPr lang="zh-CN" sz="1125">
                <a:solidFill>
                  <a:srgbClr val="1F2937"/>
                </a:solidFill>
                <a:latin typeface="Microsoft YaHei"/>
                <a:ea typeface="Microsoft YaHei"/>
              </a:rPr>
              <a:t>腾讯云</a:t>
            </a:r>
            <a:r>
              <a:rPr lang="en-US" sz="1125">
                <a:solidFill>
                  <a:srgbClr val="1F2937"/>
                </a:solidFill>
                <a:latin typeface="Microsoft YaHei"/>
                <a:ea typeface="Microsoft YaHei"/>
              </a:rPr>
              <a:t> COS SDK · </a:t>
            </a:r>
            <a:r>
              <a:rPr lang="zh-CN" sz="1125">
                <a:solidFill>
                  <a:srgbClr val="1F2937"/>
                </a:solidFill>
                <a:latin typeface="Microsoft YaHei"/>
                <a:ea typeface="Microsoft YaHei"/>
              </a:rPr>
              <a:t>腾讯云</a:t>
            </a:r>
            <a:r>
              <a:rPr lang="en-US" sz="1125">
                <a:solidFill>
                  <a:srgbClr val="1F2937"/>
                </a:solidFill>
                <a:latin typeface="Microsoft YaHei"/>
                <a:ea typeface="Microsoft YaHei"/>
              </a:rPr>
              <a:t> ASR SDK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991100" y="1219200"/>
            <a:ext cx="659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F5597"/>
                </a:solidFill>
                <a:latin typeface="Microsoft YaHei"/>
                <a:ea typeface="Microsoft YaHei"/>
              </a:rPr>
              <a:t>不引入</a:t>
            </a:r>
            <a:r>
              <a:rPr lang="en-US" sz="1500" b="1">
                <a:solidFill>
                  <a:srgbClr val="2F5597"/>
                </a:solidFill>
                <a:latin typeface="Microsoft YaHei"/>
                <a:ea typeface="Microsoft YaHei"/>
              </a:rPr>
              <a:t> Vue / React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991100" y="1504950"/>
            <a:ext cx="6591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当前交互复杂度不值得背上前端构建链。页面由服务端模板渲染，浏览器端只有少量原生</a:t>
            </a:r>
            <a:r>
              <a:rPr lang="en-US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JavaScript </a:t>
            </a: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做自动保存。加一页不用改构建流程。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991100" y="2381250"/>
            <a:ext cx="659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F5597"/>
                </a:solidFill>
                <a:latin typeface="Microsoft YaHei"/>
                <a:ea typeface="Microsoft YaHei"/>
              </a:rPr>
              <a:t>业务知识全部外置到配置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991100" y="2667000"/>
            <a:ext cx="6591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字段、生成物、部门、材料目录全部由</a:t>
            </a:r>
            <a:r>
              <a:rPr lang="en-US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JSON </a:t>
            </a: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定义，代码里没有业务硬编码。字段模型按「公共字段包</a:t>
            </a:r>
            <a:r>
              <a:rPr lang="en-US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产品组装」组织，同一批字段能被多个产品复用。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991100" y="3533775"/>
            <a:ext cx="659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F5597"/>
                </a:solidFill>
                <a:latin typeface="Microsoft YaHei"/>
                <a:ea typeface="Microsoft YaHei"/>
              </a:rPr>
              <a:t>外部能力全部走接口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991100" y="3819525"/>
            <a:ext cx="6591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语音识别、对象存储、大模型都封装成厂商无关的接口。将来换厂商，只换一个实现文件，业务代码零改动。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991100" y="4695825"/>
            <a:ext cx="659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F5597"/>
                </a:solidFill>
                <a:latin typeface="Microsoft YaHei"/>
                <a:ea typeface="Microsoft YaHei"/>
              </a:rPr>
              <a:t>密钥绝不落库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991100" y="4981575"/>
            <a:ext cx="6591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所有密钥只从环境变量读取，不写进配置文件、数据库、日志或页面；页面只显示「已配置</a:t>
            </a:r>
            <a:r>
              <a:rPr lang="en-US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未配置」。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991100" y="5848350"/>
            <a:ext cx="1114425" cy="361950"/>
          </a:xfrm>
          <a:prstGeom prst="roundRect">
            <a:avLst>
              <a:gd name="adj" fmla="val 52632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162550" y="5943600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5597"/>
                </a:solidFill>
                <a:latin typeface="Microsoft YaHei"/>
                <a:ea typeface="Microsoft YaHei"/>
              </a:rPr>
              <a:t>腾讯云</a:t>
            </a:r>
            <a:r>
              <a:rPr lang="en-US" sz="1125" b="1">
                <a:solidFill>
                  <a:srgbClr val="2F5597"/>
                </a:solidFill>
                <a:latin typeface="Microsoft YaHei"/>
                <a:ea typeface="Microsoft YaHei"/>
              </a:rPr>
              <a:t> ASR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219825" y="5848350"/>
            <a:ext cx="1114425" cy="361950"/>
          </a:xfrm>
          <a:prstGeom prst="roundRect">
            <a:avLst>
              <a:gd name="adj" fmla="val 52632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391275" y="5943600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5597"/>
                </a:solidFill>
                <a:latin typeface="Microsoft YaHei"/>
                <a:ea typeface="Microsoft YaHei"/>
              </a:rPr>
              <a:t>腾讯云</a:t>
            </a:r>
            <a:r>
              <a:rPr lang="en-US" sz="1125" b="1">
                <a:solidFill>
                  <a:srgbClr val="2F5597"/>
                </a:solidFill>
                <a:latin typeface="Microsoft YaHei"/>
                <a:ea typeface="Microsoft YaHei"/>
              </a:rPr>
              <a:t> COS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448550" y="5848350"/>
            <a:ext cx="1533525" cy="361950"/>
          </a:xfrm>
          <a:prstGeom prst="roundRect">
            <a:avLst>
              <a:gd name="adj" fmla="val 52632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20000" y="5943600"/>
            <a:ext cx="1190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F5597"/>
                </a:solidFill>
                <a:latin typeface="Microsoft YaHei"/>
                <a:ea typeface="Microsoft YaHei"/>
              </a:rPr>
              <a:t>DeepSeek </a:t>
            </a:r>
            <a:r>
              <a:rPr lang="zh-CN" sz="1125" b="1">
                <a:solidFill>
                  <a:srgbClr val="2F5597"/>
                </a:solidFill>
                <a:latin typeface="Microsoft YaHei"/>
                <a:ea typeface="Microsoft YaHei"/>
              </a:rPr>
              <a:t>大模型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3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架构 · ARCHITECTURE&lt;/Text&gt;&#10;        &lt;Text style={{ fontSize: 34, fontWeight: 'bold', color: '#1F2937', marginTop: 10 }}&gt;四层单向依赖，厂商全部关在接口后面&lt;/Text&gt;&#10;    &lt;/Box&gt;&#10;&#10;    {/* B · 内容区 */}&#10;    &lt;Box style={{ height: 524, flexDirection: 'column' }}&gt;&#10;        {/* 上：架构图 308px */}&#10;        &lt;Box style={{ height: 308, flexDirection: 'column' }}&gt;&#10;            &lt;Box style={{ height: 64, background: '#E8EEF7', borderLeft: '4px solid #2F5597', borderRadius: 6, padding: '9px 22px', flexDirection: 'column', justifyContent: 'center' }}&gt;&#10;                &lt;Text style={{ fontSize: 20, fontWeight: 'bold', color: '#1F2937', lineHeight: 1.25 }}&gt;页面与路由　templates / routes&lt;/Text&gt;&#10;                &lt;Text style={{ fontSize: 14, color: 'rgba(31,41,55,0.62)', lineHeight: 1.3, marginTop: 4 }}&gt;只处理 HTTP、会话与页面跳转，不写业务规则&lt;/Text&gt;&#10;            &lt;/Box&gt;&#10;&#10;            &lt;Box style={{ height: 16, justifyContent: 'center', alignItems: 'center' }}&gt;&#10;                &lt;FAIcon name='chevron-down' style={{ fill: '#2F5597', width: 16, height: 16 }} /&gt;&#10;            &lt;/Box&gt;&#10;&#10;            &lt;Box style={{ height: 64, background: '#2F5597', borderRadius: 6, padding: '9px 22px', flexDirection: 'column', justifyContent: 'center' }}&gt;&#10;                &lt;Text style={{ fontSize: 20, fontWeight: 'bold', color: '#FFFFFF', lineHeight: 1.25 }}&gt;services　业务动作层&lt;/Text&gt;&#10;                &lt;Text style={{ fontSize: 14, color: 'rgba(255,255,255,0.80)', lineHeight: 1.3, marginTop: 4 }}&gt;录音转写与确认 · 踏勘提取与字段确认 · 生成与打包&lt;/Text&gt;&#10;            &lt;/Box&gt;&#10;&#10;            &lt;Box style={{ height: 16, justifyContent: 'center', alignItems: 'center' }}&gt;&#10;                &lt;FAIcon name='chevron-down' style={{ fill: '#2F5597', width: 16, height: 16 }} /&gt;&#10;            &lt;/Box&gt;&#10;&#10;            &lt;Box style={{ height: 64, background: '#E8EEF7', borderLeft: '4px solid #2F5597', borderRadius: 6, padding: '9px 22px', flexDirection: 'column', justifyContent: 'center' }}&gt;&#10;                &lt;Text style={{ fontSize: 20, fontWeight: 'bold', color: '#1F2937', lineHeight: 1.25 }}&gt;core　领域能力层&lt;/Text&gt;&#10;                &lt;Text style={{ fontSize: 14, color: 'rgba(31,41,55,0.62)', lineHeight: 1.3, marginTop: 4 }}&gt;字段模型 · 校验 · 模板渲染 · 数据访问 · 迁移&lt;/Text&gt;&#10;            &lt;/Box&gt;&#10;&#10;            &lt;Box style={{ height: 16, justifyContent: 'center', alignItems: 'center' }}&gt;&#10;                &lt;FAIcon name='chevron-down' style={{ fill: '#2F5597', width: 16, height: 16 }} /&gt;&#10;            &lt;/Box&gt;&#10;&#10;            &lt;Box style={{ height: 64, background: '#E8EEF7', borderLeft: '4px solid #E2703A', borderRadius: 6, padding: '9px 22px', flexDirection: 'column', justifyContent: 'center' }}&gt;&#10;                &lt;Text style={{ fontSize: 20, fontWeight: 'bold', color: '#1F2937', lineHeight: 1.25 }}&gt;数据库与外部厂商　provider 接口&lt;/Text&gt;&#10;                &lt;Text style={{ fontSize: 14, color: 'rgba(31,41,55,0.62)', lineHeight: 1.3, marginTop: 4 }}&gt;SQLite（WAL）｜腾讯云 ASR · 腾讯云 COS · DeepSeek 大模型&lt;/Text&gt;&#10;            &lt;/Box&gt;&#10;        &lt;/Box&gt;&#10;&#10;        {/* 下：两张卡片 196px */}&#10;        &lt;Box style={{ height: 196, flexDirection: 'row', gap: 28, marginTop: 20 }}&gt;&#10;            &lt;Box style={{ flex: 60, background: '#E8EEF7', borderRadius: 8, padding: 22, flexDirection: 'column' }}&gt;&#10;                &lt;Text style={{ fontSize: 13, fontWeight: 'bold', color: '#2F5597', letterSpacing: 2 }}&gt;依赖方向&lt;/Text&gt;&#10;                &lt;Text style={{ fontSize: 19, fontWeight: 'bold', color: '#1F2937', marginTop: 8 }}&gt;只能自上而下调用&lt;/Text&gt;&#10;                &lt;Text style={{ fontSize: 16, color: 'rgba(31,41,55,0.70)', lineHeight: 1.6, marginTop: 10 }}&gt;下层不得反向导入上层。因此改页面不会碰业务规则，改数据访问不会碰页面 —— 演示到试点的改动范围是可控的。&lt;/Text&gt;&#10;            &lt;/Box&gt;&#10;&#10;            &lt;Box style={{ flex: 40, background: '#E8EEF7', borderRadius: 8, padding: 22, flexDirection: 'column' }}&gt;&#10;                &lt;Text style={{ fontSize: 13, fontWeight: 'bold', color: '#2F5597', letterSpacing: 2 }}&gt;厂商可替换&lt;/Text&gt;&#10;                &lt;Text style={{ fontSize: 19, fontWeight: 'bold', color: '#1F2937', marginTop: 8 }}&gt;换厂商 = 换一个实现&lt;/Text&gt;&#10;                &lt;Text style={{ fontSize: 16, color: 'rgba(31,41,55,0.70)', lineHeight: 1.6, marginTop: 10 }}&gt;语音识别、对象存储与大模型都被接口隔离，业务代码不依赖任何厂商 SDK。&lt;/Text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06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架构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ARCHITECTURE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四层单向依赖，厂商全部关在接口后面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47700" y="1219200"/>
            <a:ext cx="10972800" cy="609600"/>
          </a:xfrm>
          <a:prstGeom prst="roundRect">
            <a:avLst>
              <a:gd name="adj" fmla="val 9375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47700" y="1219200"/>
            <a:ext cx="10972800" cy="609600"/>
          </a:xfrm>
          <a:custGeom>
            <a:pathLst>
              <a:path w="1152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F5597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57250" y="1257300"/>
            <a:ext cx="1051560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页面与路由　</a:t>
            </a:r>
            <a:r>
              <a:rPr lang="en-US" sz="1500" b="1">
                <a:solidFill>
                  <a:srgbClr val="1F2937"/>
                </a:solidFill>
                <a:latin typeface="Microsoft YaHei"/>
                <a:ea typeface="Microsoft YaHei"/>
              </a:rPr>
              <a:t>templates / routes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只处理</a:t>
            </a: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HTTP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、会话与页面跳转，不写业务规则</a:t>
            </a:r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19800" y="1828800"/>
            <a:ext cx="152400" cy="152400"/>
          </a:xfrm>
          <a:prstGeom prst="rect">
            <a:avLst/>
          </a:prstGeom>
          <a:ln/>
        </p:spPr>
      </p:pic>
      <p:sp>
        <p:nvSpPr>
          <p:cNvPr id="222" name=""/>
          <p:cNvSpPr/>
          <p:nvPr/>
        </p:nvSpPr>
        <p:spPr>
          <a:xfrm rot="0" flipH="0" flipV="0">
            <a:off x="609600" y="1981200"/>
            <a:ext cx="10972800" cy="609600"/>
          </a:xfrm>
          <a:prstGeom prst="roundRect">
            <a:avLst>
              <a:gd name="adj" fmla="val 9375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19150" y="2019300"/>
            <a:ext cx="1055370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services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　业务动作层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19150" y="2343150"/>
            <a:ext cx="105537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录音转写与确认</a:t>
            </a: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踏勘提取与字段确认</a:t>
            </a: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生成与打包</a:t>
            </a:r>
            <a:endParaRPr/>
          </a:p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19800" y="2590800"/>
            <a:ext cx="152400" cy="152400"/>
          </a:xfrm>
          <a:prstGeom prst="rect">
            <a:avLst/>
          </a:prstGeom>
          <a:ln/>
        </p:spPr>
      </p:pic>
      <p:sp>
        <p:nvSpPr>
          <p:cNvPr id="226" name=""/>
          <p:cNvSpPr/>
          <p:nvPr/>
        </p:nvSpPr>
        <p:spPr>
          <a:xfrm rot="0" flipH="0" flipV="0">
            <a:off x="647700" y="2743200"/>
            <a:ext cx="10972800" cy="609600"/>
          </a:xfrm>
          <a:prstGeom prst="roundRect">
            <a:avLst>
              <a:gd name="adj" fmla="val 9375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647700" y="2743200"/>
            <a:ext cx="10972800" cy="609600"/>
          </a:xfrm>
          <a:custGeom>
            <a:pathLst>
              <a:path w="1152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F5597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57250" y="2781300"/>
            <a:ext cx="1051560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500" b="1">
                <a:solidFill>
                  <a:srgbClr val="1F2937"/>
                </a:solidFill>
                <a:latin typeface="Microsoft YaHei"/>
                <a:ea typeface="Microsoft YaHei"/>
              </a:rPr>
              <a:t>core</a:t>
            </a: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　领域能力层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57250" y="3105150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字段模型</a:t>
            </a: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校验</a:t>
            </a: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模板渲染</a:t>
            </a: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数据访问</a:t>
            </a: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迁移</a:t>
            </a:r>
            <a:endParaRPr/>
          </a:p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19800" y="3352800"/>
            <a:ext cx="152400" cy="152400"/>
          </a:xfrm>
          <a:prstGeom prst="rect">
            <a:avLst/>
          </a:prstGeom>
          <a:ln/>
        </p:spPr>
      </p:pic>
      <p:sp>
        <p:nvSpPr>
          <p:cNvPr id="231" name=""/>
          <p:cNvSpPr/>
          <p:nvPr/>
        </p:nvSpPr>
        <p:spPr>
          <a:xfrm rot="0" flipH="0" flipV="0">
            <a:off x="647700" y="3505200"/>
            <a:ext cx="10972800" cy="609600"/>
          </a:xfrm>
          <a:prstGeom prst="roundRect">
            <a:avLst>
              <a:gd name="adj" fmla="val 9375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647700" y="3505200"/>
            <a:ext cx="10972800" cy="609600"/>
          </a:xfrm>
          <a:custGeom>
            <a:pathLst>
              <a:path w="1152" h="6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2"/>
                </a:lnTo>
                <a:cubicBezTo>
                  <a:pt x="4" y="63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E2703A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57250" y="3543300"/>
            <a:ext cx="1051560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数据库与外部厂商　</a:t>
            </a:r>
            <a:r>
              <a:rPr lang="en-US" sz="1500" b="1">
                <a:solidFill>
                  <a:srgbClr val="1F2937"/>
                </a:solidFill>
                <a:latin typeface="Microsoft YaHei"/>
                <a:ea typeface="Microsoft YaHei"/>
              </a:rPr>
              <a:t>provider </a:t>
            </a: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接口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57250" y="3867150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SQLite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WAL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）｜腾讯云</a:t>
            </a: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ASR · 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腾讯云</a:t>
            </a:r>
            <a:r>
              <a:rPr lang="en-US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COS · DeepSeek </a:t>
            </a:r>
            <a:r>
              <a:rPr lang="zh-CN" sz="1050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大模型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4343400"/>
            <a:ext cx="6419850" cy="1866900"/>
          </a:xfrm>
          <a:prstGeom prst="roundRect">
            <a:avLst>
              <a:gd name="adj" fmla="val 4082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19150" y="4552950"/>
            <a:ext cx="600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F5597"/>
                </a:solidFill>
                <a:latin typeface="Microsoft YaHei"/>
                <a:ea typeface="Microsoft YaHei"/>
              </a:rPr>
              <a:t>依赖方向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19150" y="47815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只能自上而下调用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19150" y="5095875"/>
            <a:ext cx="6000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下层不得反向导入上层。因此改页面不会碰业务规则，改数据访问不会碰页面</a:t>
            </a:r>
            <a:r>
              <a:rPr lang="en-US" sz="120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演示到试点的改动范围是可控的。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296150" y="4343400"/>
            <a:ext cx="4286250" cy="1866900"/>
          </a:xfrm>
          <a:prstGeom prst="roundRect">
            <a:avLst>
              <a:gd name="adj" fmla="val 4082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505700" y="4552950"/>
            <a:ext cx="3867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F5597"/>
                </a:solidFill>
                <a:latin typeface="Microsoft YaHei"/>
                <a:ea typeface="Microsoft YaHei"/>
              </a:rPr>
              <a:t>厂商可替换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505700" y="4781550"/>
            <a:ext cx="3867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换厂商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=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换一个实现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505700" y="5095875"/>
            <a:ext cx="3867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语音识别、对象存储与大模型都被接口隔离，业务代码不依赖任何厂商</a:t>
            </a:r>
            <a:r>
              <a:rPr lang="en-US" sz="120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 SDK</a:t>
            </a:r>
            <a:r>
              <a:rPr lang="zh-CN" sz="120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5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流程 · WORKFLOW&lt;/Text&gt;&#10;        &lt;Text style={{ fontSize: 34, fontWeight: 'bold', color: '#1F2937', marginTop: 10 }}&gt;十个节点，只有两处必须人工&lt;/Text&gt;&#10;    &lt;/Box&gt;&#10;&#10;    {/* B · 内容区 */}&#10;    &lt;Box style={{ height: 524, flexDirection: 'column' }}&gt;&#10;        &lt;Text style={{ fontSize: 17, color: 'rgba(31,41,55,0.66)', height: 30 }}&gt;其余环节全自动，方案人员只在「校对」与「补齐」两处介入。&lt;/Text&gt;&#10;&#10;        {/* 流程带 216px */}&#10;        &lt;Box style={{ height: 216, flexDirection: 'column' }}&gt;&#10;            &lt;Box style={{ height: 96, flexDirection: 'row', justifyContent: 'space-between', alignItems: 'center' }}&gt;&#10;                &lt;Box style={{ width: 214, height: 96, background: '#E8EEF7', borderRadius: 6, padding: 14, flexDirection: 'column', justifyContent: 'center' }}&gt;&#10;                    &lt;Text style={{ fontSize: 13, fontWeight: 'bold', color: '#2F5597' }}&gt;01&lt;/Text&gt;&#10;                    &lt;Text style={{ fontSize: 16, fontWeight: 'bold', color: '#1F2937', marginTop: 6 }}&gt;录音&lt;/Text&gt;&#10;                    &lt;Text style={{ fontSize: 13, color: 'rgba(31,41,55,0.60)', marginTop: 4 }}&gt;手机直接录制&lt;/Text&gt;&#10;                &lt;/Box&gt;&#10;                &lt;FAIcon name='chevron-right' style={{ fill: '#2F5597', width: 16, height: 16 }} /&gt;&#10;                &lt;Box style={{ width: 214, height: 96, background: '#E8EEF7', borderRadius: 6, padding: 14, flexDirection: 'column', justifyContent: 'center' }}&gt;&#10;                    &lt;Text style={{ fontSize: 13, fontWeight: 'bold', color: '#2F5597' }}&gt;02&lt;/Text&gt;&#10;                    &lt;Text style={{ fontSize: 16, fontWeight: 'bold', color: '#1F2937', marginTop: 6 }}&gt;上传&lt;/Text&gt;&#10;                    &lt;Text style={{ fontSize: 13, color: 'rgba(31,41,55,0.60)', marginTop: 4 }}&gt;私有存储桶中转&lt;/Text&gt;&#10;                &lt;/Box&gt;&#10;                &lt;FAIcon name='chevron-right' style={{ fill: '#2F5597', width: 16, height: 16 }} /&gt;&#10;                &lt;Box style={{ width: 214, height: 96, background: '#E8EEF7', borderRadius: 6, padding: 14, flexDirection: 'column', justifyContent: 'center' }}&gt;&#10;                    &lt;Text style={{ fontSize: 13, fontWeight: 'bold', color: '#2F5597' }}&gt;03&lt;/Text&gt;&#10;                    &lt;Text style={{ fontSize: 16, fontWeight: 'bold', color: '#1F2937', marginTop: 6 }}&gt;云端转写&lt;/Text&gt;&#10;                    &lt;Text style={{ fontSize: 13, color: 'rgba(31,41,55,0.60)', marginTop: 4 }}&gt;后台执行，可离开&lt;/Text&gt;&#10;                &lt;/Box&gt;&#10;                &lt;FAIcon name='chevron-right' style={{ fill: '#2F5597', width: 16, height: 16 }} /&gt;&#10;                &lt;Box style={{ width: 214, height: 96, background: '#FFFFFF', border: '2px solid #E2703A', borderRadius: 6, padding: 14, flexDirection: 'column', justifyContent: 'center' }}&gt;&#10;                    &lt;Text style={{ fontSize: 13, fontWeight: 'bold', color: '#E2703A' }}&gt;04&lt;/Text&gt;&#10;                    &lt;Text style={{ fontSize: 16, fontWeight: 'bold', color: '#1F2937', marginTop: 6 }}&gt;校对转写&lt;/Text&gt;&#10;                    &lt;Text style={{ fontSize: 13, color: 'rgba(31,41,55,0.60)', marginTop: 4 }}&gt;人工节点&lt;/Text&gt;&#10;                &lt;/Box&gt;&#10;                &lt;FAIcon name='chevron-right' style={{ fill: '#2F5597', width: 16, height: 16 }} /&gt;&#10;                &lt;Box style={{ width: 214, height: 96, background: '#E8EEF7', borderRadius: 6, padding: 14, flexDirection: 'column', justifyContent: 'center' }}&gt;&#10;                    &lt;Text style={{ fontSize: 13, fontWeight: 'bold', color: '#2F5597' }}&gt;05&lt;/Text&gt;&#10;                    &lt;Text style={{ fontSize: 16, fontWeight: 'bold', color: '#1F2937', marginTop: 6 }}&gt;确认共享稿&lt;/Text&gt;&#10;                    &lt;Text style={{ fontSize: 13, color: 'rgba(31,41,55,0.60)', marginTop: 4 }}&gt;项目级资产&lt;/Text&gt;&#10;                &lt;/Box&gt;&#10;            &lt;/Box&gt;&#10;&#10;            &lt;Box style={{ height: 24, flexDirection: 'row', justifyContent: 'flex-end', alignItems: 'center', gap: 8 }}&gt;&#10;                &lt;Text style={{ fontSize: 13, color: 'rgba(31,41,55,0.45)' }}&gt;接下行&lt;/Text&gt;&#10;                &lt;FAIcon name='arrow-down' style={{ fill: '#2F5597', width: 16, height: 16 }} /&gt;&#10;            &lt;/Box&gt;&#10;&#10;            &lt;Box style={{ height: 96, flexDirection: 'row', justifyContent: 'space-between', alignItems: 'center' }}&gt;&#10;                &lt;Box style={{ width: 214, height: 96, background: '#E8EEF7', borderRadius: 6, padding: 14, flexDirection: 'column', justifyContent: 'center' }}&gt;&#10;                    &lt;Text style={{ fontSize: 13, fontWeight: 'bold', color: '#2F5597' }}&gt;06&lt;/Text&gt;&#10;                    &lt;Text style={{ fontSize: 16, fontWeight: 'bold', color: '#1F2937', marginTop: 6 }}&gt;导入产品&lt;/Text&gt;&#10;                    &lt;Text style={{ fontSize: 13, color: 'rgba(31,41,55,0.60)', marginTop: 4 }}&gt;多产品共用&lt;/Text&gt;&#10;                &lt;/Box&gt;&#10;                &lt;FAIcon name='chevron-right' style={{ fill: '#2F5597', width: 16, height: 16 }} /&gt;&#10;                &lt;Box style={{ width: 214, height: 96, background: '#E8EEF7', borderRadius: 6, padding: 14, flexDirection: 'column', justifyContent: 'center' }}&gt;&#10;                    &lt;Text style={{ fontSize: 13, fontWeight: 'bold', color: '#2F5597' }}&gt;07&lt;/Text&gt;&#10;                    &lt;Text style={{ fontSize: 16, fontWeight: 'bold', color: '#1F2937', marginTop: 6 }}&gt;AI 提取字段&lt;/Text&gt;&#10;                    &lt;Text style={{ fontSize: 13, color: 'rgba(31,41,55,0.60)', marginTop: 4 }}&gt;自动填写&lt;/Text&gt;&#10;                &lt;/Box&gt;&#10;                &lt;FAIcon name='chevron-right' style={{ fill: '#2F5597', width: 16, height: 16 }} /&gt;&#10;                &lt;Box style={{ width: 214, height: 96, background: '#FFFFFF', border: '2px solid #E2703A', borderRadius: 6, padding: 14, flexDirection: 'column', justifyContent: 'center' }}&gt;&#10;                    &lt;Text style={{ fontSize: 13, fontWeight: 'bold', color: '#E2703A' }}&gt;08&lt;/Text&gt;&#10;                    &lt;Text style={{ fontSize: 16, fontWeight: 'bold', color: '#1F2937', marginTop: 6 }}&gt;补齐确认&lt;/Text&gt;&#10;                    &lt;Text style={{ fontSize: 13, color: 'rgba(31,41,55,0.60)', marginTop: 4 }}&gt;人工节点&lt;/Text&gt;&#10;                &lt;/Box&gt;&#10;                &lt;FAIcon name='chevron-right' style={{ fill: '#2F5597', width: 16, height: 16 }} /&gt;&#10;                &lt;Box style={{ width: 214, height: 96, background: '#E8EEF7', borderRadius: 6, padding: 14, flexDirection: 'column', justifyContent: 'center' }}&gt;&#10;                    &lt;Text style={{ fontSize: 13, fontWeight: 'bold', color: '#2F5597' }}&gt;09&lt;/Text&gt;&#10;                    &lt;Text style={{ fontSize: 16, fontWeight: 'bold', color: '#1F2937', marginTop: 6 }}&gt;生成材料&lt;/Text&gt;&#10;                    &lt;Text style={{ fontSize: 13, color: 'rgba(31,41,55,0.60)', marginTop: 4 }}&gt;一次勾选&lt;/Text&gt;&#10;                &lt;/Box&gt;&#10;                &lt;FAIcon name='chevron-right' style={{ fill: '#2F5597', width: 16, height: 16 }} /&gt;&#10;                &lt;Box style={{ width: 214, height: 96, background: '#2F5597', borderRadius: 6, padding: 14, flexDirection: 'column', justifyContent: 'center' }}&gt;&#10;                    &lt;Text style={{ fontSize: 13, fontWeight: 'bold', color: 'rgba(255,255,255,0.75)' }}&gt;10&lt;/Text&gt;&#10;                    &lt;Text style={{ fontSize: 16, fontWeight: 'bold', color: '#FFFFFF', marginTop: 6 }}&gt;打包 ZIP&lt;/Text&gt;&#10;                    &lt;Text style={{ fontSize: 13, color: 'rgba(255,255,255,0.72)', marginTop: 4 }}&gt;可直接发送&lt;/Text&gt;&#10;                &lt;/Box&gt;&#10;            &lt;/Box&gt;&#10;        &lt;/Box&gt;&#10;&#10;        {/* 底部两张卡 256px */}&#10;        &lt;Box style={{ height: 256, flexDirection: 'row', gap: 28, marginTop: 22 }}&gt;&#10;            &lt;Box style={{ flex: 60, background: '#E8EEF7', borderRadius: 8, padding: 22, flexDirection: 'column' }}&gt;&#10;                &lt;Text style={{ fontSize: 13, fontWeight: 'bold', color: '#2F5597', letterSpacing: 2 }}&gt;设计红线&lt;/Text&gt;&#10;                &lt;Text style={{ fontSize: 19, fontWeight: 'bold', color: '#1F2937', marginTop: 8 }}&gt;两个「只做一次」&lt;/Text&gt;&#10;                &lt;Text style={{ fontSize: 16, color: 'rgba(31,41,55,0.72)', lineHeight: 1.62, marginTop: 10 }}&gt;一份录音只转写一次：转写稿是项目级资产，同一项目的多个产品共用，不重复上传、不重复计费。&lt;br /&gt;同一任务不重复提交：页面刷新不会重复提交云端任务，避免重复计费与结果被覆盖。&lt;/Text&gt;&#10;            &lt;/Box&gt;&#10;&#10;            &lt;Box style={{ flex: 40, background: '#E8EEF7', borderRadius: 8, padding: 22, flexDirection: 'column' }}&gt;&#10;                &lt;Text style={{ fontSize: 13, fontWeight: 'bold', color: '#2F5597', letterSpacing: 2 }}&gt;人工介入&lt;/Text&gt;&#10;                &lt;Text style={{ fontSize: 19, fontWeight: 'bold', color: '#1F2937', marginTop: 8 }}&gt;只确认，不重录&lt;/Text&gt;&#10;                &lt;Text style={{ fontSize: 16, color: 'rgba(31,41,55,0.72)', lineHeight: 1.62, marginTop: 10 }}&gt;校对转写：只需确认专业术语与低置信片段，不要求逐字校对。&lt;br /&gt;补齐字段：系统把未识别、低置信、必填未填的字段集中呈现，逐项确认。&lt;/Text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07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流程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WORKFLOW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十个节点，只有两处必须人工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10972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其余环节全自动，方案人员只在「校对」与「补齐」两处介入。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1504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42950" y="1666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F559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42950" y="1876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录音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42950" y="2105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手机直接录制</a:t>
            </a:r>
            <a:endParaRPr/>
          </a:p>
        </p:txBody>
      </p:sp>
      <p:pic>
        <p:nvPicPr>
          <p:cNvPr id="2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667000" y="1885950"/>
            <a:ext cx="152400" cy="152400"/>
          </a:xfrm>
          <a:prstGeom prst="rect">
            <a:avLst/>
          </a:prstGeom>
          <a:ln/>
        </p:spPr>
      </p:pic>
      <p:sp>
        <p:nvSpPr>
          <p:cNvPr id="255" name=""/>
          <p:cNvSpPr/>
          <p:nvPr/>
        </p:nvSpPr>
        <p:spPr>
          <a:xfrm rot="0" flipH="0" flipV="0">
            <a:off x="2847975" y="1504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2981325" y="1666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F559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981325" y="1876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上传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2981325" y="2105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私有存储桶中转</a:t>
            </a:r>
            <a:endParaRPr/>
          </a:p>
        </p:txBody>
      </p:sp>
      <p:pic>
        <p:nvPicPr>
          <p:cNvPr id="2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05375" y="1885950"/>
            <a:ext cx="152400" cy="152400"/>
          </a:xfrm>
          <a:prstGeom prst="rect">
            <a:avLst/>
          </a:prstGeom>
          <a:ln/>
        </p:spPr>
      </p:pic>
      <p:sp>
        <p:nvSpPr>
          <p:cNvPr id="260" name=""/>
          <p:cNvSpPr/>
          <p:nvPr/>
        </p:nvSpPr>
        <p:spPr>
          <a:xfrm rot="0" flipH="0" flipV="0">
            <a:off x="5076825" y="1504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210175" y="1666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F559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210175" y="1876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云端转写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210175" y="2105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后台执行，可离开</a:t>
            </a:r>
            <a:endParaRPr/>
          </a:p>
        </p:txBody>
      </p:sp>
      <p:pic>
        <p:nvPicPr>
          <p:cNvPr id="2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34225" y="1885950"/>
            <a:ext cx="152400" cy="152400"/>
          </a:xfrm>
          <a:prstGeom prst="rect">
            <a:avLst/>
          </a:prstGeom>
          <a:ln/>
        </p:spPr>
      </p:pic>
      <p:sp>
        <p:nvSpPr>
          <p:cNvPr id="265" name=""/>
          <p:cNvSpPr/>
          <p:nvPr/>
        </p:nvSpPr>
        <p:spPr>
          <a:xfrm rot="0" flipH="0" flipV="0">
            <a:off x="7315200" y="1504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E2703A"/>
            </a:solidFill>
            <a:prstDash val="solid"/>
          </a:ln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448550" y="1666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703A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448550" y="1876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校对转写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448550" y="2105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人工节点</a:t>
            </a:r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72600" y="1885950"/>
            <a:ext cx="152400" cy="152400"/>
          </a:xfrm>
          <a:prstGeom prst="rect">
            <a:avLst/>
          </a:prstGeom>
          <a:ln/>
        </p:spPr>
      </p:pic>
      <p:sp>
        <p:nvSpPr>
          <p:cNvPr id="270" name=""/>
          <p:cNvSpPr/>
          <p:nvPr/>
        </p:nvSpPr>
        <p:spPr>
          <a:xfrm rot="0" flipH="0" flipV="0">
            <a:off x="9544050" y="1504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677400" y="1666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F5597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677400" y="1876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确认共享稿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677400" y="2105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项目级资产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0982325" y="24574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接下行</a:t>
            </a:r>
            <a:endParaRPr/>
          </a:p>
        </p:txBody>
      </p:sp>
      <p:pic>
        <p:nvPicPr>
          <p:cNvPr id="2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430000" y="2457450"/>
            <a:ext cx="152400" cy="152400"/>
          </a:xfrm>
          <a:prstGeom prst="rect">
            <a:avLst/>
          </a:prstGeom>
          <a:ln/>
        </p:spPr>
      </p:pic>
      <p:sp>
        <p:nvSpPr>
          <p:cNvPr id="276" name=""/>
          <p:cNvSpPr/>
          <p:nvPr/>
        </p:nvSpPr>
        <p:spPr>
          <a:xfrm rot="0" flipH="0" flipV="0">
            <a:off x="609600" y="2647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42950" y="2809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F5597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42950" y="3019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导入产品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42950" y="3248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多产品共用</a:t>
            </a:r>
            <a:endParaRPr/>
          </a:p>
        </p:txBody>
      </p:sp>
      <p:pic>
        <p:nvPicPr>
          <p:cNvPr id="2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667000" y="3028950"/>
            <a:ext cx="152400" cy="152400"/>
          </a:xfrm>
          <a:prstGeom prst="rect">
            <a:avLst/>
          </a:prstGeom>
          <a:ln/>
        </p:spPr>
      </p:pic>
      <p:sp>
        <p:nvSpPr>
          <p:cNvPr id="281" name=""/>
          <p:cNvSpPr/>
          <p:nvPr/>
        </p:nvSpPr>
        <p:spPr>
          <a:xfrm rot="0" flipH="0" flipV="0">
            <a:off x="2847975" y="2647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2981325" y="2809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F5597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981325" y="3019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937"/>
                </a:solidFill>
                <a:latin typeface="Microsoft YaHei"/>
                <a:ea typeface="Microsoft YaHei"/>
              </a:rPr>
              <a:t>AI </a:t>
            </a: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提取字段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2981325" y="3248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自动填写</a:t>
            </a:r>
            <a:endParaRPr/>
          </a:p>
        </p:txBody>
      </p:sp>
      <p:pic>
        <p:nvPicPr>
          <p:cNvPr id="2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05375" y="3028950"/>
            <a:ext cx="152400" cy="152400"/>
          </a:xfrm>
          <a:prstGeom prst="rect">
            <a:avLst/>
          </a:prstGeom>
          <a:ln/>
        </p:spPr>
      </p:pic>
      <p:sp>
        <p:nvSpPr>
          <p:cNvPr id="286" name=""/>
          <p:cNvSpPr/>
          <p:nvPr/>
        </p:nvSpPr>
        <p:spPr>
          <a:xfrm rot="0" flipH="0" flipV="0">
            <a:off x="5076825" y="2647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E2703A"/>
            </a:solidFill>
            <a:prstDash val="solid"/>
          </a:ln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210175" y="2809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703A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210175" y="3019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补齐确认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210175" y="3248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人工节点</a:t>
            </a:r>
            <a:endParaRPr/>
          </a:p>
        </p:txBody>
      </p:sp>
      <p:pic>
        <p:nvPicPr>
          <p:cNvPr id="2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34225" y="3028950"/>
            <a:ext cx="152400" cy="152400"/>
          </a:xfrm>
          <a:prstGeom prst="rect">
            <a:avLst/>
          </a:prstGeom>
          <a:ln/>
        </p:spPr>
      </p:pic>
      <p:sp>
        <p:nvSpPr>
          <p:cNvPr id="291" name=""/>
          <p:cNvSpPr/>
          <p:nvPr/>
        </p:nvSpPr>
        <p:spPr>
          <a:xfrm rot="0" flipH="0" flipV="0">
            <a:off x="7315200" y="2647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448550" y="2809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F5597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448550" y="3019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生成材料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448550" y="3248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F2937">
                    <a:alpha val="60000"/>
                  </a:srgbClr>
                </a:solidFill>
                <a:latin typeface="Microsoft YaHei"/>
                <a:ea typeface="Microsoft YaHei"/>
              </a:rPr>
              <a:t>一次勾选</a:t>
            </a:r>
            <a:endParaRPr/>
          </a:p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72600" y="3028950"/>
            <a:ext cx="152400" cy="152400"/>
          </a:xfrm>
          <a:prstGeom prst="rect">
            <a:avLst/>
          </a:prstGeom>
          <a:ln/>
        </p:spPr>
      </p:pic>
      <p:sp>
        <p:nvSpPr>
          <p:cNvPr id="296" name=""/>
          <p:cNvSpPr/>
          <p:nvPr/>
        </p:nvSpPr>
        <p:spPr>
          <a:xfrm rot="0" flipH="0" flipV="0">
            <a:off x="9544050" y="2647950"/>
            <a:ext cx="2038350" cy="914400"/>
          </a:xfrm>
          <a:prstGeom prst="roundRect">
            <a:avLst>
              <a:gd name="adj" fmla="val 6250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677400" y="28098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677400" y="30194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打包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ZIP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677400" y="3248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可直接发送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09600" y="3771900"/>
            <a:ext cx="6419850" cy="2438400"/>
          </a:xfrm>
          <a:prstGeom prst="roundRect">
            <a:avLst>
              <a:gd name="adj" fmla="val 3125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600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F5597"/>
                </a:solidFill>
                <a:latin typeface="Microsoft YaHei"/>
                <a:ea typeface="Microsoft YaHei"/>
              </a:rPr>
              <a:t>设计红线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19150" y="42100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两个「只做一次」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19150" y="4524375"/>
            <a:ext cx="600075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00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一份录音只转写一次：转写稿是项目级资产，同一项目的多个产品共用，不重复上传、不重复计费。</a:t>
            </a:r>
            <a:endParaRPr/>
          </a:p>
          <a:p>
            <a:pPr>
              <a:lnSpc>
                <a:spcPct val="162000"/>
              </a:lnSpc>
            </a:pPr>
            <a:r>
              <a:rPr lang="zh-CN" sz="1200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同一任务不重复提交：页面刷新不会重复提交云端任务，避免重复计费与结果被覆盖。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7296150" y="3771900"/>
            <a:ext cx="4286250" cy="2438400"/>
          </a:xfrm>
          <a:prstGeom prst="roundRect">
            <a:avLst>
              <a:gd name="adj" fmla="val 3125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505700" y="3981450"/>
            <a:ext cx="3867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F5597"/>
                </a:solidFill>
                <a:latin typeface="Microsoft YaHei"/>
                <a:ea typeface="Microsoft YaHei"/>
              </a:rPr>
              <a:t>人工介入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505700" y="4210050"/>
            <a:ext cx="3867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只确认，不重录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505700" y="4524375"/>
            <a:ext cx="3867150" cy="1190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00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校对转写：只需确认专业术语与低置信片段，不要求逐字校对。</a:t>
            </a:r>
            <a:endParaRPr/>
          </a:p>
          <a:p>
            <a:pPr>
              <a:lnSpc>
                <a:spcPct val="162000"/>
              </a:lnSpc>
            </a:pPr>
            <a:r>
              <a:rPr lang="zh-CN" sz="1200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补齐字段：系统把未识别、低置信、必填未填的字段集中呈现，逐项确认。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10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部署 · DEPLOYMENT&lt;/Text&gt;&#10;        &lt;Text style={{ fontSize: 34, fontWeight: 'bold', color: '#1F2937', marginTop: 10 }}&gt;同一份代码，三档环境，改造量全部在配置&lt;/Text&gt;&#10;    &lt;/Box&gt;&#10;&#10;    {/* B · 内容区 */}&#10;    &lt;Box style={{ height: 524, flexDirection: 'row', gap: 28 }}&gt;&#10;        {/* 左标题栏 30% */}&#10;        &lt;Box style={{ flex: 30, background: '#2F5597', borderRadius: 8, padding: 28, flexDirection: 'column' }}&gt;&#10;            &lt;Text style={{ fontSize: 13, fontWeight: 'bold', color: 'rgba(255,255,255,0.62)', letterSpacing: 3 }}&gt;部署策略&lt;/Text&gt;&#10;            &lt;Text style={{ fontSize: 26, fontWeight: 'bold', color: '#FFFFFF', lineHeight: 1.4, marginTop: 16 }}&gt;本机能跑，&lt;br /&gt;服务器也能跑&lt;/Text&gt;&#10;            &lt;Text style={{ fontSize: 15, color: 'rgba(255,255,255,0.84)', lineHeight: 1.65, marginTop: 20 }}&gt;环境差异全部由环境变量决定。本机与线上共用同一套代码，从演示走到试点不需要重写。&lt;/Text&gt;&#10;&#10;            &lt;Box style={{ marginTop: 'auto', borderTop: '1px solid rgba(255,255,255,0.22)', paddingTop: 16 }}&gt;&#10;                &lt;Text style={{ fontSize: 14, color: 'rgba(255,255,255,0.86)', lineHeight: 1.6 }}&gt;上线前必做：五个分部的初始口令全部更换，并配齐密钥环境变量。&lt;/Text&gt;&#10;            &lt;/Box&gt;&#10;        &lt;/Box&gt;&#10;&#10;        {/* 右内容区 70% */}&#10;        &lt;Box style={{ flex: 70, flexDirection: 'column', justifyContent: 'space-between' }}&gt;&#10;            &lt;Box style={{ height: 164, background: '#E8EEF7', borderRadius: 8, padding: 22, flexDirection: 'row', gap: 18 }}&gt;&#10;                &lt;Box style={{ width: 44, height: 44, borderRadius: 22, background: '#2F5597', justifyContent: 'center', alignItems: 'center' }}&gt;&#10;                    &lt;Text style={{ fontSize: 18, fontWeight: 'bold', color: '#FFFFFF' }}&gt;A&lt;/Text&gt;&#10;                &lt;/Box&gt;&#10;                &lt;Box style={{ flexDirection: 'column', gap: 6 }}&gt;&#10;                    &lt;Text style={{ fontSize: 20, fontWeight: 'bold', color: '#1F2937' }}&gt;本机演示（当前状态）&lt;/Text&gt;&#10;                    &lt;Box style={{ background: '#FFFFFF', borderRadius: 4, padding: '6px 12px' }}&gt;&#10;                        &lt;Text style={{ fontSize: 15, color: '#2F5597' }}&gt;双击「启动 Demo.bat」→ http://127.0.0.1:8770&lt;/Text&gt;&#10;                    &lt;/Box&gt;&#10;                    &lt;Text style={{ fontSize: 15, color: 'rgba(31,41,55,0.66)', lineHeight: 1.5 }}&gt;自动检查依赖、自动打开浏览器。给领导和同事现场演示用，零配置。&lt;/Text&gt;&#10;                &lt;/Box&gt;&#10;            &lt;/Box&gt;&#10;&#10;            &lt;Box style={{ height: 164, background: '#E8EEF7', borderRadius: 8, padding: 22, flexDirection: 'row', gap: 18 }}&gt;&#10;                &lt;Box style={{ width: 44, height: 44, borderRadius: 22, background: '#2F5597', justifyContent: 'center', alignItems: 'center' }}&gt;&#10;                    &lt;Text style={{ fontSize: 18, fontWeight: 'bold', color: '#FFFFFF' }}&gt;B&lt;/Text&gt;&#10;                &lt;/Box&gt;&#10;                &lt;Box style={{ flexDirection: 'column', gap: 6 }}&gt;&#10;                    &lt;Text style={{ fontSize: 20, fontWeight: 'bold', color: '#1F2937' }}&gt;生产模式本机验证&lt;/Text&gt;&#10;                    &lt;Box style={{ background: '#FFFFFF', borderRadius: 4, padding: '6px 12px' }}&gt;&#10;                        &lt;Text style={{ fontSize: 15, color: '#2F5597' }}&gt;「启动 生产模式测试.bat」→ 生产 WSGI 服务器承载&lt;/Text&gt;&#10;                    &lt;/Box&gt;&#10;                    &lt;Text style={{ fontSize: 15, color: 'rgba(31,41,55,0.66)', lineHeight: 1.5 }}&gt;上线前在本机跑一遍线上模式，验证生产服务器与登录链路是否正常。&lt;/Text&gt;&#10;                &lt;/Box&gt;&#10;            &lt;/Box&gt;&#10;&#10;            &lt;Box style={{ height: 164, background: '#E8EEF7', borderRadius: 8, padding: 22, flexDirection: 'row', gap: 18 }}&gt;&#10;                &lt;Box style={{ width: 44, height: 44, borderRadius: 22, background: '#E2703A', justifyContent: 'center', alignItems: 'center' }}&gt;&#10;                    &lt;Text style={{ fontSize: 18, fontWeight: 'bold', color: '#FFFFFF' }}&gt;C&lt;/Text&gt;&#10;                &lt;/Box&gt;&#10;                &lt;Box style={{ flexDirection: 'column', gap: 6 }}&gt;&#10;                    &lt;Text style={{ fontSize: 20, fontWeight: 'bold', color: '#1F2937' }}&gt;线上部署（本轮要批的事）&lt;/Text&gt;&#10;                    &lt;Box style={{ background: '#FFFFFF', borderRadius: 4, padding: '6px 12px' }}&gt;&#10;                        &lt;Text style={{ fontSize: 15, color: '#2F5597' }}&gt;腾讯云轻量应用服务器 · Ubuntu 22.04 LTS&lt;/Text&gt;&#10;                    &lt;/Box&gt;&#10;                    &lt;Text style={{ fontSize: 15, color: 'rgba(31,41,55,0.66)', lineHeight: 1.5 }}&gt;对外由反向代理承接，对内由生产服务器与守护进程承载。配置与两阶段方案见下一页。&lt;/Text&gt;&#10;                &lt;/Box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08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部署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DEPLOYMENT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同一份代码，三档环境，改造量全部在配置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09600" y="1219200"/>
            <a:ext cx="3209925" cy="4991100"/>
          </a:xfrm>
          <a:prstGeom prst="roundRect">
            <a:avLst>
              <a:gd name="adj" fmla="val 2374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76300" y="1485900"/>
            <a:ext cx="2676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部署策略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76300" y="1790700"/>
            <a:ext cx="2676525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本机能跑，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服务器也能跑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76300" y="2819400"/>
            <a:ext cx="26765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84000"/>
                  </a:srgbClr>
                </a:solidFill>
                <a:latin typeface="Microsoft YaHei"/>
                <a:ea typeface="Microsoft YaHei"/>
              </a:rPr>
              <a:t>环境差异全部由环境变量决定。本机与线上共用同一套代码，从演示走到试点不需要重写。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876300" y="5267325"/>
            <a:ext cx="2676525" cy="685800"/>
          </a:xfrm>
          <a:custGeom>
            <a:pathLst>
              <a:path w="281" h="72">
                <a:moveTo>
                  <a:pt x="0" y="0"/>
                </a:moveTo>
                <a:lnTo>
                  <a:pt x="281" y="0"/>
                </a:lnTo>
                <a:lnTo>
                  <a:pt x="28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76300" y="5429250"/>
            <a:ext cx="2676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上线前必做：五个分部的初始口令全部更换，并配齐密钥环境变量。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086225" y="1219200"/>
            <a:ext cx="7496175" cy="156210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4295775" y="14287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438650" y="1533525"/>
            <a:ext cx="13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886325" y="1428750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本机演示（当前状态）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4886325" y="1714500"/>
            <a:ext cx="4429125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000625" y="1771650"/>
            <a:ext cx="4200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F5597"/>
                </a:solidFill>
                <a:latin typeface="Microsoft YaHei"/>
                <a:ea typeface="Microsoft YaHei"/>
              </a:rPr>
              <a:t>双击「启动</a:t>
            </a:r>
            <a:r>
              <a:rPr lang="en-US" sz="1125">
                <a:solidFill>
                  <a:srgbClr val="2F5597"/>
                </a:solidFill>
                <a:latin typeface="Microsoft YaHei"/>
                <a:ea typeface="Microsoft YaHei"/>
              </a:rPr>
              <a:t> Demo.bat</a:t>
            </a:r>
            <a:r>
              <a:rPr lang="zh-CN" sz="1125">
                <a:solidFill>
                  <a:srgbClr val="2F5597"/>
                </a:solidFill>
                <a:latin typeface="Microsoft YaHei"/>
                <a:ea typeface="Microsoft YaHei"/>
              </a:rPr>
              <a:t>」→</a:t>
            </a:r>
            <a:r>
              <a:rPr lang="en-US" sz="1125">
                <a:solidFill>
                  <a:srgbClr val="2F5597"/>
                </a:solidFill>
                <a:latin typeface="Microsoft YaHei"/>
                <a:ea typeface="Microsoft YaHei"/>
              </a:rPr>
              <a:t> http://127.0.0.1:8770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886325" y="2057400"/>
            <a:ext cx="4429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自动检查依赖、自动打开浏览器。给领导和同事现场演示用，零配置。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4086225" y="2933700"/>
            <a:ext cx="7496175" cy="156210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4295775" y="31432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448175" y="3248025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886325" y="3143250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生产模式本机验证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4886325" y="3429000"/>
            <a:ext cx="4429125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000625" y="3486150"/>
            <a:ext cx="4200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F5597"/>
                </a:solidFill>
                <a:latin typeface="Microsoft YaHei"/>
                <a:ea typeface="Microsoft YaHei"/>
              </a:rPr>
              <a:t>「启动</a:t>
            </a:r>
            <a:r>
              <a:rPr lang="en-US" sz="1125">
                <a:solidFill>
                  <a:srgbClr val="2F5597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2F5597"/>
                </a:solidFill>
                <a:latin typeface="Microsoft YaHei"/>
                <a:ea typeface="Microsoft YaHei"/>
              </a:rPr>
              <a:t>生产模式测试</a:t>
            </a:r>
            <a:r>
              <a:rPr lang="en-US" sz="1125">
                <a:solidFill>
                  <a:srgbClr val="2F5597"/>
                </a:solidFill>
                <a:latin typeface="Microsoft YaHei"/>
                <a:ea typeface="Microsoft YaHei"/>
              </a:rPr>
              <a:t>.bat</a:t>
            </a:r>
            <a:r>
              <a:rPr lang="zh-CN" sz="1125">
                <a:solidFill>
                  <a:srgbClr val="2F5597"/>
                </a:solidFill>
                <a:latin typeface="Microsoft YaHei"/>
                <a:ea typeface="Microsoft YaHei"/>
              </a:rPr>
              <a:t>」→</a:t>
            </a:r>
            <a:r>
              <a:rPr lang="en-US" sz="1125">
                <a:solidFill>
                  <a:srgbClr val="2F5597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2F5597"/>
                </a:solidFill>
                <a:latin typeface="Microsoft YaHei"/>
                <a:ea typeface="Microsoft YaHei"/>
              </a:rPr>
              <a:t>生产</a:t>
            </a:r>
            <a:r>
              <a:rPr lang="en-US" sz="1125">
                <a:solidFill>
                  <a:srgbClr val="2F5597"/>
                </a:solidFill>
                <a:latin typeface="Microsoft YaHei"/>
                <a:ea typeface="Microsoft YaHei"/>
              </a:rPr>
              <a:t> WSGI </a:t>
            </a:r>
            <a:r>
              <a:rPr lang="zh-CN" sz="1125">
                <a:solidFill>
                  <a:srgbClr val="2F5597"/>
                </a:solidFill>
                <a:latin typeface="Microsoft YaHei"/>
                <a:ea typeface="Microsoft YaHei"/>
              </a:rPr>
              <a:t>服务器承载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886325" y="3771900"/>
            <a:ext cx="4429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上线前在本机跑一遍线上模式，验证生产服务器与登录链路是否正常。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086225" y="4648200"/>
            <a:ext cx="7496175" cy="156210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4295775" y="48577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448175" y="4962525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886325" y="4857750"/>
            <a:ext cx="5572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线上部署（本轮要批的事）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4886325" y="5143500"/>
            <a:ext cx="5572125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000625" y="5200650"/>
            <a:ext cx="534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F5597"/>
                </a:solidFill>
                <a:latin typeface="Microsoft YaHei"/>
                <a:ea typeface="Microsoft YaHei"/>
              </a:rPr>
              <a:t>腾讯云轻量应用服务器</a:t>
            </a:r>
            <a:r>
              <a:rPr lang="en-US" sz="1125">
                <a:solidFill>
                  <a:srgbClr val="2F5597"/>
                </a:solidFill>
                <a:latin typeface="Microsoft YaHei"/>
                <a:ea typeface="Microsoft YaHei"/>
              </a:rPr>
              <a:t> · Ubuntu 22.04 LTS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886325" y="5486400"/>
            <a:ext cx="5572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66000"/>
                  </a:srgbClr>
                </a:solidFill>
                <a:latin typeface="Microsoft YaHei"/>
                <a:ea typeface="Microsoft YaHei"/>
              </a:rPr>
              <a:t>对外由反向代理承接，对内由生产服务器与守护进程承载。配置与两阶段方案见下一页。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43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上线 · GO LIVE&lt;/Text&gt;&#10;        &lt;Text style={{ fontSize: 34, fontWeight: 'bold', color: '#1F2937', marginTop: 10 }}&gt;备案不是上线的前置条件，现在就能上内网&lt;/Text&gt;&#10;    &lt;/Box&gt;&#10;&#10;    {/* B · 内容区 */}&#10;    &lt;Box style={{ height: 524, flexDirection: 'row', gap: 30 }}&gt;&#10;        {/* 左：部署拓扑 62% */}&#10;        &lt;Box style={{ flex: 62, flexDirection: 'column' }}&gt;&#10;            &lt;Box style={{ height: 68, background: '#E8EEF7', borderRadius: 6, padding: '8px 20px', flexDirection: 'column', justifyContent: 'center' }}&gt;&#10;                &lt;Text style={{ fontSize: 19, fontWeight: 'bold', color: '#1F2937', lineHeight: 1.25 }}&gt;浏览器　用户端&lt;/Text&gt;&#10;                &lt;Text style={{ fontSize: 13, color: 'rgba(31,41,55,0.62)', lineHeight: 1.3, marginTop: 4 }}&gt;内网或公网访问，不安装任何客户端&lt;/Text&gt;&#10;            &lt;/Box&gt;&#10;&#10;            &lt;Box style={{ height: 14, justifyContent: 'center', alignItems: 'center' }}&gt;&#10;                &lt;FAIcon name='chevron-down' style={{ fill: '#2F5597', width: 14, height: 14 }} /&gt;&#10;            &lt;/Box&gt;&#10;&#10;            &lt;Box style={{ height: 68, background: '#2F5597', borderRadius: 6, padding: '8px 20px', flexDirection: 'column', justifyContent: 'center' }}&gt;&#10;                &lt;Text style={{ fontSize: 19, fontWeight: 'bold', color: '#FFFFFF', lineHeight: 1.25 }}&gt;反向代理　Nginx&lt;/Text&gt;&#10;                &lt;Text style={{ fontSize: 13, color: 'rgba(255,255,255,0.82)', lineHeight: 1.3, marginTop: 4 }}&gt;对外唯一入口：终止 HTTPS、把 HTTP 强制跳转&lt;/Text&gt;&#10;            &lt;/Box&gt;&#10;&#10;            &lt;Box style={{ height: 14, justifyContent: 'center', alignItems: 'center' }}&gt;&#10;                &lt;FAIcon name='chevron-down' style={{ fill: '#2F5597', width: 14, height: 14 }} /&gt;&#10;            &lt;/Box&gt;&#10;&#10;            &lt;Box style={{ height: 68, background: '#E8EEF7', borderLeft: '4px solid #2F5597', borderRadius: 6, padding: '8px 20px', flexDirection: 'column', justifyContent: 'center' }}&gt;&#10;                &lt;Text style={{ fontSize: 19, fontWeight: 'bold', color: '#1F2937', lineHeight: 1.25 }}&gt;生产 WSGI 服务器　Waitress&lt;/Text&gt;&#10;                &lt;Text style={{ fontSize: 13, color: 'rgba(31,41,55,0.62)', lineHeight: 1.3, marginTop: 4 }}&gt;单进程多线程，只监听内网 127.0.0.1:8000，不直接对外&lt;/Text&gt;&#10;            &lt;/Box&gt;&#10;&#10;            &lt;Box style={{ height: 14, justifyContent: 'center', alignItems: 'center' }}&gt;&#10;                &lt;FAIcon name='chevron-down' style={{ fill: '#2F5597', width: 14, height: 14 }} /&gt;&#10;            &lt;/Box&gt;&#10;&#10;            &lt;Box style={{ height: 68, background: '#E8EEF7', borderLeft: '4px solid #2F5597', borderRadius: 6, padding: '8px 20px', flexDirection: 'column', justifyContent: 'center' }}&gt;&#10;                &lt;Text style={{ fontSize: 19, fontWeight: 'bold', color: '#1F2937', lineHeight: 1.25 }}&gt;Flask 应用　workbench&lt;/Text&gt;&#10;                &lt;Text style={{ fontSize: 13, color: 'rgba(31,41,55,0.62)', lineHeight: 1.3, marginTop: 4 }}&gt;页面与路由 · 业务动作 · 领域能力 · 字段配置&lt;/Text&gt;&#10;            &lt;/Box&gt;&#10;&#10;            &lt;Box style={{ height: 14, justifyContent: 'center', alignItems: 'center' }}&gt;&#10;                &lt;FAIcon name='chevron-down' style={{ fill: '#2F5597', width: 14, height: 14 }} /&gt;&#10;            &lt;/Box&gt;&#10;&#10;            &lt;Box style={{ height: 68, background: '#E8EEF7', borderLeft: '4px solid #E2703A', borderRadius: 6, padding: '8px 20px', flexDirection: 'column', justifyContent: 'center' }}&gt;&#10;                &lt;Text style={{ fontSize: 19, fontWeight: 'bold', color: '#1F2937', lineHeight: 1.25 }}&gt;数据与外部服务&lt;/Text&gt;&#10;                &lt;Text style={{ fontSize: 13, color: 'rgba(31,41,55,0.62)', lineHeight: 1.3, marginTop: 4 }}&gt;本机数据库与文件目录｜腾讯云 ASR · COS · DeepSeek&lt;/Text&gt;&#10;            &lt;/Box&gt;&#10;&#10;            &lt;Box style={{ background: '#FFFFFF', border: '1px solid rgba(47,85,151,0.28)', borderRadius: 6, padding: '12px 20px', marginTop: 20 }}&gt;&#10;                &lt;Text style={{ fontSize: 15, color: 'rgba(31,41,55,0.72)', lineHeight: 1.55 }}&gt;进程由 systemd 守护，崩溃自动拉起｜全部密钥放在独立环境文件，权限 600&lt;/Text&gt;&#10;            &lt;/Box&gt;&#10;        &lt;/Box&gt;&#10;&#10;        {/* 右：两阶段 + 硬约束 38% */}&#10;        &lt;Box style={{ flex: 38, flexDirection: 'column' }}&gt;&#10;            &lt;Box style={{ background: '#E8EEF7', borderRadius: 8, padding: 20, flexDirection: 'column' }}&gt;&#10;                &lt;Text style={{ fontSize: 13, fontWeight: 'bold', color: '#2F5597', letterSpacing: 1 }}&gt;上线的两个阶段&lt;/Text&gt;&#10;&#10;                &lt;Text style={{ fontSize: 17, fontWeight: 'bold', color: '#1F2937', marginTop: 12 }}&gt;阶段一 · 公网 IP + HTTP&lt;/Text&gt;&#10;                &lt;Text style={{ fontSize: 14, color: 'rgba(31,41,55,0.70)', lineHeight: 1.5, marginTop: 5 }}&gt;不需备案，放行 8770 端口即可访问&lt;/Text&gt;&#10;&#10;                &lt;Box style={{ height: 1, background: 'rgba(47,85,151,0.20)', marginTop: 14 }} /&gt;&#10;&#10;                &lt;Text style={{ fontSize: 17, fontWeight: 'bold', color: '#1F2937', marginTop: 14 }}&gt;阶段二 · 域名 + HTTPS&lt;/Text&gt;&#10;                &lt;Text style={{ fontSize: 14, color: 'rgba(31,41,55,0.70)', lineHeight: 1.5, marginTop: 5 }}&gt;申请证书并强制跳转，Cookie 加 Secure&lt;/Text&gt;&#10;            &lt;/Box&gt;&#10;&#10;            &lt;Box style={{ background: '#FFFFFF', borderLeft: '3px solid #E2703A', borderRadius: 8, padding: 20, flexDirection: 'column', marginTop: 14 }}&gt;&#10;                &lt;Text style={{ fontSize: 13, fontWeight: 'bold', color: '#E2703A', letterSpacing: 1 }}&gt;硬约束&lt;/Text&gt;&#10;                &lt;Text style={{ fontSize: 19, fontWeight: 'bold', color: '#1F2937', marginTop: 6 }}&gt;必须单进程多线程&lt;/Text&gt;&#10;                &lt;Text style={{ fontSize: 15, color: 'rgba(31,41,55,0.72)', lineHeight: 1.5, marginTop: 6 }}&gt;转写在进程内线程执行、数据库单机单写。禁止多 worker。&lt;/Text&gt;&#10;            &lt;/Box&gt;&#10;&#10;            &lt;Box style={{ background: '#2F5597', borderRadius: 8, padding: 20, flexDirection: 'column', marginTop: 14 }}&gt;&#10;                &lt;Text style={{ fontSize: 15, color: 'rgba(255,255,255,0.90)', lineHeight: 1.55 }}&gt;两阶段应用代码完全一致，只改反向代理配置。&lt;/Text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09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上线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GO LIVE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备案不是上线的前置条件，现在就能上内网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09600" y="1219200"/>
            <a:ext cx="6629400" cy="647700"/>
          </a:xfrm>
          <a:prstGeom prst="roundRect">
            <a:avLst>
              <a:gd name="adj" fmla="val 8824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00100" y="1285875"/>
            <a:ext cx="624840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浏览器　用户端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00100" y="160020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内网或公网访问，不安装任何客户端</a:t>
            </a:r>
            <a:endParaRPr/>
          </a:p>
        </p:txBody>
      </p:sp>
      <p:pic>
        <p:nvPicPr>
          <p:cNvPr id="3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57625" y="1866900"/>
            <a:ext cx="133350" cy="133350"/>
          </a:xfrm>
          <a:prstGeom prst="rect">
            <a:avLst/>
          </a:prstGeom>
          <a:ln/>
        </p:spPr>
      </p:pic>
      <p:sp>
        <p:nvSpPr>
          <p:cNvPr id="351" name=""/>
          <p:cNvSpPr/>
          <p:nvPr/>
        </p:nvSpPr>
        <p:spPr>
          <a:xfrm rot="0" flipH="0" flipV="0">
            <a:off x="609600" y="2000250"/>
            <a:ext cx="6629400" cy="647700"/>
          </a:xfrm>
          <a:prstGeom prst="roundRect">
            <a:avLst>
              <a:gd name="adj" fmla="val 8824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00100" y="2066925"/>
            <a:ext cx="624840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反向代理　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Nginx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00100" y="238125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对外唯一入口：终止</a:t>
            </a:r>
            <a:r>
              <a:rPr lang="en-US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 HTTPS</a:t>
            </a:r>
            <a:r>
              <a:rPr lang="zh-CN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、把</a:t>
            </a:r>
            <a:r>
              <a:rPr lang="en-US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 HTTP </a:t>
            </a:r>
            <a:r>
              <a:rPr lang="zh-CN" sz="9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强制跳转</a:t>
            </a:r>
            <a:endParaRPr/>
          </a:p>
        </p:txBody>
      </p:sp>
      <p:pic>
        <p:nvPicPr>
          <p:cNvPr id="3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57625" y="2647950"/>
            <a:ext cx="133350" cy="133350"/>
          </a:xfrm>
          <a:prstGeom prst="rect">
            <a:avLst/>
          </a:prstGeom>
          <a:ln/>
        </p:spPr>
      </p:pic>
      <p:sp>
        <p:nvSpPr>
          <p:cNvPr id="355" name=""/>
          <p:cNvSpPr/>
          <p:nvPr/>
        </p:nvSpPr>
        <p:spPr>
          <a:xfrm rot="0" flipH="0" flipV="0">
            <a:off x="647700" y="2781300"/>
            <a:ext cx="6629400" cy="647700"/>
          </a:xfrm>
          <a:prstGeom prst="roundRect">
            <a:avLst>
              <a:gd name="adj" fmla="val 8824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647700" y="2781300"/>
            <a:ext cx="6629400" cy="647700"/>
          </a:xfrm>
          <a:custGeom>
            <a:pathLst>
              <a:path w="696" h="6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6"/>
                </a:lnTo>
                <a:cubicBezTo>
                  <a:pt x="4" y="67"/>
                  <a:pt x="5" y="68"/>
                  <a:pt x="6" y="68"/>
                </a:cubicBezTo>
                <a:cubicBezTo>
                  <a:pt x="3" y="68"/>
                  <a:pt x="0" y="65"/>
                  <a:pt x="0" y="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F5597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38200" y="2847975"/>
            <a:ext cx="621030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生产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WSGI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服务器　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Waitress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8200" y="3162300"/>
            <a:ext cx="62103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单进程多线程，只监听内网</a:t>
            </a:r>
            <a:r>
              <a:rPr lang="en-US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127.0.0.1:8000</a:t>
            </a:r>
            <a:r>
              <a:rPr lang="zh-CN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，不直接对外</a:t>
            </a:r>
            <a:endParaRPr/>
          </a:p>
        </p:txBody>
      </p:sp>
      <p:pic>
        <p:nvPicPr>
          <p:cNvPr id="3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57625" y="3429000"/>
            <a:ext cx="133350" cy="133350"/>
          </a:xfrm>
          <a:prstGeom prst="rect">
            <a:avLst/>
          </a:prstGeom>
          <a:ln/>
        </p:spPr>
      </p:pic>
      <p:sp>
        <p:nvSpPr>
          <p:cNvPr id="360" name=""/>
          <p:cNvSpPr/>
          <p:nvPr/>
        </p:nvSpPr>
        <p:spPr>
          <a:xfrm rot="0" flipH="0" flipV="0">
            <a:off x="647700" y="3562350"/>
            <a:ext cx="6629400" cy="647700"/>
          </a:xfrm>
          <a:prstGeom prst="roundRect">
            <a:avLst>
              <a:gd name="adj" fmla="val 8824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647700" y="3562350"/>
            <a:ext cx="6629400" cy="647700"/>
          </a:xfrm>
          <a:custGeom>
            <a:pathLst>
              <a:path w="696" h="6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6"/>
                </a:lnTo>
                <a:cubicBezTo>
                  <a:pt x="4" y="67"/>
                  <a:pt x="5" y="68"/>
                  <a:pt x="6" y="68"/>
                </a:cubicBezTo>
                <a:cubicBezTo>
                  <a:pt x="3" y="68"/>
                  <a:pt x="0" y="65"/>
                  <a:pt x="0" y="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F5597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38200" y="3629025"/>
            <a:ext cx="621030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Flask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应用　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workbench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38200" y="3943350"/>
            <a:ext cx="62103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页面与路由</a:t>
            </a:r>
            <a:r>
              <a:rPr lang="en-US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业务动作</a:t>
            </a:r>
            <a:r>
              <a:rPr lang="en-US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领域能力</a:t>
            </a:r>
            <a:r>
              <a:rPr lang="en-US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字段配置</a:t>
            </a:r>
            <a:endParaRPr/>
          </a:p>
        </p:txBody>
      </p:sp>
      <p:pic>
        <p:nvPicPr>
          <p:cNvPr id="3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57625" y="4210050"/>
            <a:ext cx="133350" cy="133350"/>
          </a:xfrm>
          <a:prstGeom prst="rect">
            <a:avLst/>
          </a:prstGeom>
          <a:ln/>
        </p:spPr>
      </p:pic>
      <p:sp>
        <p:nvSpPr>
          <p:cNvPr id="365" name=""/>
          <p:cNvSpPr/>
          <p:nvPr/>
        </p:nvSpPr>
        <p:spPr>
          <a:xfrm rot="0" flipH="0" flipV="0">
            <a:off x="647700" y="4343400"/>
            <a:ext cx="6629400" cy="647700"/>
          </a:xfrm>
          <a:prstGeom prst="roundRect">
            <a:avLst>
              <a:gd name="adj" fmla="val 8824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647700" y="4343400"/>
            <a:ext cx="6629400" cy="647700"/>
          </a:xfrm>
          <a:custGeom>
            <a:pathLst>
              <a:path w="696" h="6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6"/>
                </a:lnTo>
                <a:cubicBezTo>
                  <a:pt x="4" y="67"/>
                  <a:pt x="5" y="68"/>
                  <a:pt x="6" y="68"/>
                </a:cubicBezTo>
                <a:cubicBezTo>
                  <a:pt x="3" y="68"/>
                  <a:pt x="0" y="65"/>
                  <a:pt x="0" y="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E2703A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38200" y="4410075"/>
            <a:ext cx="621030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数据与外部服务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38200" y="4724400"/>
            <a:ext cx="62103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本机数据库与文件目录｜腾讯云</a:t>
            </a:r>
            <a:r>
              <a:rPr lang="en-US" sz="975">
                <a:solidFill>
                  <a:srgbClr val="1F2937">
                    <a:alpha val="62000"/>
                  </a:srgbClr>
                </a:solidFill>
                <a:latin typeface="Microsoft YaHei"/>
                <a:ea typeface="Microsoft YaHei"/>
              </a:rPr>
              <a:t> ASR · COS · DeepSeek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9600" y="5181600"/>
            <a:ext cx="66294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5597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00100" y="5295900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进程由</a:t>
            </a:r>
            <a:r>
              <a:rPr lang="en-US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systemd </a:t>
            </a: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守护，崩溃自动拉起｜全部密钥放在独立环境文件，权限</a:t>
            </a:r>
            <a:r>
              <a:rPr lang="en-US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600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7524750" y="1219200"/>
            <a:ext cx="4057650" cy="1914525"/>
          </a:xfrm>
          <a:prstGeom prst="roundRect">
            <a:avLst>
              <a:gd name="adj" fmla="val 398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715250" y="1409700"/>
            <a:ext cx="3676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2F5597"/>
                </a:solidFill>
                <a:latin typeface="Microsoft YaHei"/>
                <a:ea typeface="Microsoft YaHei"/>
              </a:rPr>
              <a:t>上线的两个阶段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715250" y="1676400"/>
            <a:ext cx="3676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阶段一</a:t>
            </a:r>
            <a:r>
              <a:rPr lang="en-US" sz="1275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公网</a:t>
            </a:r>
            <a:r>
              <a:rPr lang="en-US" sz="1275" b="1">
                <a:solidFill>
                  <a:srgbClr val="1F2937"/>
                </a:solidFill>
                <a:latin typeface="Microsoft YaHei"/>
                <a:ea typeface="Microsoft YaHei"/>
              </a:rPr>
              <a:t> IP + HTTP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715250" y="1924050"/>
            <a:ext cx="3676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不需备案，放行</a:t>
            </a:r>
            <a:r>
              <a:rPr lang="en-US" sz="105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 8770 </a:t>
            </a:r>
            <a:r>
              <a:rPr lang="zh-CN" sz="105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端口即可访问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7715250" y="2305050"/>
            <a:ext cx="3676650" cy="9525"/>
          </a:xfrm>
          <a:prstGeom prst="rect">
            <a:avLst/>
          </a:prstGeom>
          <a:solidFill>
            <a:srgbClr val="2F5597">
              <a:alpha val="20000"/>
            </a:srgbClr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715250" y="2447925"/>
            <a:ext cx="3676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阶段二</a:t>
            </a:r>
            <a:r>
              <a:rPr lang="en-US" sz="1275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域名</a:t>
            </a:r>
            <a:r>
              <a:rPr lang="en-US" sz="1275" b="1">
                <a:solidFill>
                  <a:srgbClr val="1F2937"/>
                </a:solidFill>
                <a:latin typeface="Microsoft YaHei"/>
                <a:ea typeface="Microsoft YaHei"/>
              </a:rPr>
              <a:t> + HTTPS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715250" y="2695575"/>
            <a:ext cx="3676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申请证书并强制跳转，</a:t>
            </a:r>
            <a:r>
              <a:rPr lang="en-US" sz="105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Cookie </a:t>
            </a:r>
            <a:r>
              <a:rPr lang="zh-CN" sz="105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加</a:t>
            </a:r>
            <a:r>
              <a:rPr lang="en-US" sz="1050">
                <a:solidFill>
                  <a:srgbClr val="1F2937">
                    <a:alpha val="70000"/>
                  </a:srgbClr>
                </a:solidFill>
                <a:latin typeface="Microsoft YaHei"/>
                <a:ea typeface="Microsoft YaHei"/>
              </a:rPr>
              <a:t> Secure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7553325" y="3267075"/>
            <a:ext cx="405765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7553325" y="3267075"/>
            <a:ext cx="4057650" cy="1381125"/>
          </a:xfrm>
          <a:custGeom>
            <a:pathLst>
              <a:path w="426" h="14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40"/>
                </a:lnTo>
                <a:cubicBezTo>
                  <a:pt x="3" y="142"/>
                  <a:pt x="5" y="144"/>
                  <a:pt x="7" y="145"/>
                </a:cubicBezTo>
                <a:cubicBezTo>
                  <a:pt x="3" y="144"/>
                  <a:pt x="0" y="141"/>
                  <a:pt x="0" y="13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703A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743825" y="3457575"/>
            <a:ext cx="3648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E2703A"/>
                </a:solidFill>
                <a:latin typeface="Microsoft YaHei"/>
                <a:ea typeface="Microsoft YaHei"/>
              </a:rPr>
              <a:t>硬约束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743825" y="3667125"/>
            <a:ext cx="3648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必须单进程多线程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743825" y="3943350"/>
            <a:ext cx="3648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转写在进程内线程执行、数据库单机单写。禁止多</a:t>
            </a:r>
            <a:r>
              <a:rPr lang="en-US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worker</a:t>
            </a: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7524750" y="4781550"/>
            <a:ext cx="4057650" cy="647700"/>
          </a:xfrm>
          <a:prstGeom prst="roundRect">
            <a:avLst>
              <a:gd name="adj" fmla="val 11765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715250" y="4972050"/>
            <a:ext cx="3676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两阶段应用代码完全一致，只改反向代理配置。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成本 · COST&lt;/Text&gt;&#10;        &lt;Text style={{ fontSize: 34, fontWeight: 'bold', color: '#1F2937', marginTop: 10 }}&gt;运行成本按月两位数量级，不构成决策约束&lt;/Text&gt;&#10;    &lt;/Box&gt;&#10;&#10;    {/* B · 内容区 */}&#10;    &lt;Box style={{ height: 524, flexDirection: 'column' }}&gt;&#10;        &lt;Box style={{ height: 390, flexDirection: 'row', gap: 40 }}&gt;&#10;            {/* 左：巨型数字 */}&#10;            &lt;Box style={{ flex: 56, flexDirection: 'column' }}&gt;&#10;                &lt;Text style={{ fontSize: 15, fontWeight: 'bold', color: 'rgba(31,41,55,0.48)', letterSpacing: 2 }}&gt;运行成本 · 按月 20 次踏勘估算&lt;/Text&gt;&#10;                &lt;Box style={{ flexDirection: 'row', alignItems: 'flex-end', marginTop: 26 }}&gt;&#10;                    &lt;Text style={{ fontSize: 104, fontWeight: 'bold', color: '#E2703A', lineHeight: 1 }}&gt;¥12–32&lt;/Text&gt;&#10;                    &lt;Text style={{ fontSize: 36, fontWeight: 'bold', color: '#E2703A', lineHeight: 1, marginLeft: 14, marginBottom: 10 }}&gt;/ 月&lt;/Text&gt;&#10;                &lt;/Box&gt;&#10;                &lt;Text style={{ fontSize: 20, fontWeight: 'bold', color: '#1F2937', marginTop: 22 }}&gt;全平台月度运行成本（不含人力）&lt;/Text&gt;&#10;                &lt;Text style={{ fontSize: 17, color: 'rgba(31,41,55,0.68)', lineHeight: 1.6, marginTop: 10 }}&gt;按每月 20 次踏勘、每次 2 小时录音估算。费用不是本方案的取舍点，取舍点在人力与口径。&lt;/Text&gt;&#10;            &lt;/Box&gt;&#10;&#10;            {/* 右：三项分项 */}&#10;            &lt;Box style={{ flex: 44, flexDirection: 'column', justifyContent: 'space-between' }}&gt;&#10;                &lt;Box style={{ background: '#E8EEF7', borderRadius: 8, padding: 16, flexDirection: 'column' }}&gt;&#10;                    &lt;Box style={{ flexDirection: 'row', alignItems: 'flex-end' }}&gt;&#10;                        &lt;Text style={{ fontSize: 28, fontWeight: 'bold', color: '#2F5597', lineHeight: 1 }}&gt;¥0.6–1.6&lt;/Text&gt;&#10;                    &lt;/Box&gt;&#10;                    &lt;Text style={{ fontSize: 16, fontWeight: 'bold', color: '#1F2937', marginTop: 10 }}&gt;录音转写 · 单次 2 小时&lt;/Text&gt;&#10;                    &lt;Text style={{ fontSize: 14, color: 'rgba(31,41,55,0.64)', lineHeight: 1.4, marginTop: 4 }}&gt;按量计费，厂商另有免费额度可覆盖首年&lt;/Text&gt;&#10;                &lt;/Box&gt;&#10;&#10;                &lt;Box style={{ background: '#E8EEF7', borderRadius: 8, padding: 16, flexDirection: 'column' }}&gt;&#10;                    &lt;Box style={{ flexDirection: 'row', alignItems: 'flex-end' }}&gt;&#10;                        &lt;Text style={{ fontSize: 28, fontWeight: 'bold', color: '#2F5597', lineHeight: 1 }}&gt;1 台&lt;/Text&gt;&#10;                    &lt;/Box&gt;&#10;                    &lt;Text style={{ fontSize: 16, fontWeight: 'bold', color: '#1F2937', marginTop: 10 }}&gt;服务器 · 按年租用&lt;/Text&gt;&#10;                    &lt;Text style={{ fontSize: 14, color: 'rgba(31,41,55,0.64)', lineHeight: 1.4, marginTop: 4 }}&gt;最低规格轻量应用服务器即可承载&lt;/Text&gt;&#10;                &lt;/Box&gt;&#10;&#10;                &lt;Box style={{ background: '#E8EEF7', borderRadius: 8, padding: 16, flexDirection: 'column' }}&gt;&#10;                    &lt;Box style={{ flexDirection: 'row', alignItems: 'flex-end' }}&gt;&#10;                        &lt;Text style={{ fontSize: 28, fontWeight: 'bold', color: '#2F5597', lineHeight: 1 }}&gt;可忽略&lt;/Text&gt;&#10;                    &lt;/Box&gt;&#10;                    &lt;Text style={{ fontSize: 16, fontWeight: 'bold', color: '#1F2937', marginTop: 10 }}&gt;大模型字段提取&lt;/Text&gt;&#10;                    &lt;Text style={{ fontSize: 14, color: 'rgba(31,41,55,0.64)', lineHeight: 1.4, marginTop: 4 }}&gt;按量计费，单次方案提取成本远低于转写&lt;/Text&gt;&#10;                &lt;/Box&gt;&#10;            &lt;/Box&gt;&#10;        &lt;/Box&gt;&#10;&#10;        {/* 洞察条 */}&#10;        &lt;Box style={{ flexDirection: 'row', gap: 24, background: '#E8EEF7', borderRadius: 8, padding: 20, marginTop: 20 }}&gt;&#10;            &lt;Box style={{ width: 3, background: '#E2703A' }} /&gt;&#10;            &lt;Box style={{ flexDirection: 'column' }}&gt;&#10;                &lt;Text style={{ fontSize: 17, fontWeight: 'bold', color: '#1F2937' }}&gt;判断：真正要投的不是钱，是人力与口径&lt;/Text&gt;&#10;                &lt;Text style={{ fontSize: 16, color: 'rgba(31,41,55,0.72)', lineHeight: 1.55, marginTop: 6 }}&gt;转写与存储的量级可以忽略；决定成败的是字段口径确认与一线试点投入。所有单价口径以厂商最新计费文档为准，本页仅作量级参考。&lt;/Text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10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成本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COST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运行成本按月两位数量级，不构成决策约束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5934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运行成本</a:t>
            </a:r>
            <a:r>
              <a:rPr lang="en-US" sz="1125" b="1" spc="150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b="1" spc="150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按月</a:t>
            </a:r>
            <a:r>
              <a:rPr lang="en-US" sz="1125" b="1" spc="150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 20 </a:t>
            </a:r>
            <a:r>
              <a:rPr lang="zh-CN" sz="1125" b="1" spc="150">
                <a:solidFill>
                  <a:srgbClr val="1F2937">
                    <a:alpha val="48000"/>
                  </a:srgbClr>
                </a:solidFill>
                <a:latin typeface="Microsoft YaHei"/>
                <a:ea typeface="Microsoft YaHei"/>
              </a:rPr>
              <a:t>次踏勘估算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359092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E2703A"/>
                </a:solidFill>
                <a:latin typeface="Microsoft YaHei"/>
                <a:ea typeface="Microsoft YaHei"/>
              </a:rPr>
              <a:t>¥12–32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333875" y="2314575"/>
            <a:ext cx="609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2703A"/>
                </a:solidFill>
                <a:latin typeface="Microsoft YaHei"/>
                <a:ea typeface="Microsoft YaHei"/>
              </a:rPr>
              <a:t>/ </a:t>
            </a:r>
            <a:r>
              <a:rPr lang="zh-CN" sz="2700" b="1">
                <a:solidFill>
                  <a:srgbClr val="E2703A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3038475"/>
            <a:ext cx="5934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全平台月度运行成本（不含人力）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59340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按每月</a:t>
            </a:r>
            <a:r>
              <a:rPr lang="en-US" sz="1275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 20 </a:t>
            </a:r>
            <a:r>
              <a:rPr lang="zh-CN" sz="1275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次踏勘、每次</a:t>
            </a:r>
            <a:r>
              <a:rPr lang="en-US" sz="1275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1F2937">
                    <a:alpha val="68000"/>
                  </a:srgbClr>
                </a:solidFill>
                <a:latin typeface="Microsoft YaHei"/>
                <a:ea typeface="Microsoft YaHei"/>
              </a:rPr>
              <a:t>小时录音估算。费用不是本方案的取舍点，取舍点在人力与口径。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924675" y="1219200"/>
            <a:ext cx="4657725" cy="1181100"/>
          </a:xfrm>
          <a:prstGeom prst="roundRect">
            <a:avLst>
              <a:gd name="adj" fmla="val 6452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077075" y="1371600"/>
            <a:ext cx="11239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F5597"/>
                </a:solidFill>
                <a:latin typeface="Microsoft YaHei"/>
                <a:ea typeface="Microsoft YaHei"/>
              </a:rPr>
              <a:t>¥0.6–1.6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077075" y="1790700"/>
            <a:ext cx="435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录音转写</a:t>
            </a:r>
            <a:r>
              <a:rPr lang="en-US" sz="1200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单次</a:t>
            </a:r>
            <a:r>
              <a:rPr lang="en-US" sz="1200" b="1">
                <a:solidFill>
                  <a:srgbClr val="1F2937"/>
                </a:solidFill>
                <a:latin typeface="Microsoft YaHei"/>
                <a:ea typeface="Microsoft YaHei"/>
              </a:rPr>
              <a:t> 2 </a:t>
            </a: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077075" y="2019300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按量计费，厂商另有免费额度可覆盖首年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924675" y="2486025"/>
            <a:ext cx="4657725" cy="1181100"/>
          </a:xfrm>
          <a:prstGeom prst="roundRect">
            <a:avLst>
              <a:gd name="adj" fmla="val 6452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077075" y="2638425"/>
            <a:ext cx="5143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F5597"/>
                </a:solidFill>
                <a:latin typeface="Microsoft YaHei"/>
                <a:ea typeface="Microsoft YaHei"/>
              </a:rPr>
              <a:t>1 </a:t>
            </a:r>
            <a:r>
              <a:rPr lang="zh-CN" sz="2100" b="1">
                <a:solidFill>
                  <a:srgbClr val="2F5597"/>
                </a:solidFill>
                <a:latin typeface="Microsoft YaHei"/>
                <a:ea typeface="Microsoft YaHei"/>
              </a:rPr>
              <a:t>台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077075" y="3057525"/>
            <a:ext cx="435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服务器</a:t>
            </a:r>
            <a:r>
              <a:rPr lang="en-US" sz="1200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按年租用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077075" y="3286125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最低规格轻量应用服务器即可承载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924675" y="3752850"/>
            <a:ext cx="4657725" cy="1181100"/>
          </a:xfrm>
          <a:prstGeom prst="roundRect">
            <a:avLst>
              <a:gd name="adj" fmla="val 6452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077075" y="3905250"/>
            <a:ext cx="800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2F5597"/>
                </a:solidFill>
                <a:latin typeface="Microsoft YaHei"/>
                <a:ea typeface="Microsoft YaHei"/>
              </a:rPr>
              <a:t>可忽略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077075" y="4324350"/>
            <a:ext cx="435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937"/>
                </a:solidFill>
                <a:latin typeface="Microsoft YaHei"/>
                <a:ea typeface="Microsoft YaHei"/>
              </a:rPr>
              <a:t>大模型字段提取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077075" y="4552950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1F2937">
                    <a:alpha val="64000"/>
                  </a:srgbClr>
                </a:solidFill>
                <a:latin typeface="Microsoft YaHei"/>
                <a:ea typeface="Microsoft YaHei"/>
              </a:rPr>
              <a:t>按量计费，单次方案提取成本远低于转写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5124450"/>
            <a:ext cx="10972800" cy="923925"/>
          </a:xfrm>
          <a:prstGeom prst="roundRect">
            <a:avLst>
              <a:gd name="adj" fmla="val 8247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800100" y="5314950"/>
            <a:ext cx="28575" cy="542925"/>
          </a:xfrm>
          <a:prstGeom prst="rect">
            <a:avLst/>
          </a:prstGeom>
          <a:solidFill>
            <a:srgbClr val="E2703A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57275" y="5314950"/>
            <a:ext cx="914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判断：真正要投的不是钱，是人力与口径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57275" y="5572125"/>
            <a:ext cx="9144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转写与存储的量级可以忽略；决定成败的是字段口径确认与一线试点投入。所有单价口径以厂商最新计费文档为准，本页仅作量级参考。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width: 1280, height: 720, padding: '20px 64px', flexDirection: 'column', background: '#FFFFFF', fontFamily: 'Microsoft YaHei' }}&gt;&#10;    {/* A · 标题块 */}&#10;    &lt;Box style={{ height: 108, flexDirection: 'column', justifyContent: 'center' }}&gt;&#10;        &lt;Text style={{ fontSize: 14, fontWeight: 'bold', color: '#2F5597', letterSpacing: 2 }}&gt;决策 · DECISIONS&lt;/Text&gt;&#10;        &lt;Text style={{ fontSize: 34, fontWeight: 'bold', color: '#1F2937', marginTop: 10 }}&gt;三件事定了，就能进一线试点&lt;/Text&gt;&#10;    &lt;/Box&gt;&#10;&#10;    {/* B · 内容区 */}&#10;    &lt;Box style={{ height: 524, flexDirection: 'row', gap: 28 }}&gt;&#10;        {/* 左标题栏 30% */}&#10;        &lt;Box style={{ flex: 30, background: '#2F5597', borderRadius: 8, padding: 28, flexDirection: 'column' }}&gt;&#10;            &lt;Text style={{ fontSize: 13, fontWeight: 'bold', color: 'rgba(255,255,255,0.62)', letterSpacing: 3 }}&gt;需要拍板&lt;/Text&gt;&#10;            &lt;Text style={{ fontSize: 26, fontWeight: 'bold', color: '#FFFFFF', lineHeight: 1.4, marginTop: 16 }}&gt;三条口径，&lt;br /&gt;只能由业务定&lt;/Text&gt;&#10;            &lt;Text style={{ fontSize: 15, color: 'rgba(255,255,255,0.84)', lineHeight: 1.65, marginTop: 20 }}&gt;这三条不是技术问题，而是合规与商务口径问题，技术侧无权假设。&lt;/Text&gt;&#10;&#10;            &lt;Box style={{ marginTop: 'auto', borderTop: '1px solid rgba(255,255,255,0.22)', paddingTop: 16 }}&gt;&#10;                &lt;Text style={{ fontSize: 14, color: 'rgba(255,255,255,0.86)', lineHeight: 1.6 }}&gt;另有一条上线硬性动作：五个分部的初始口令必须在试点前全部更换。&lt;/Text&gt;&#10;            &lt;/Box&gt;&#10;        &lt;/Box&gt;&#10;&#10;        {/* 右内容区 70% */}&#10;        &lt;Box style={{ flex: 70, flexDirection: 'column', justifyContent: 'space-between' }}&gt;&#10;            &lt;Box style={{ background: '#E8EEF7', borderRadius: 8, padding: 18, flexDirection: 'row', gap: 18 }}&gt;&#10;                &lt;Box style={{ width: 30, height: 30, borderRadius: 15, background: '#E2703A', justifyContent: 'center', alignItems: 'center' }}&gt;&#10;                    &lt;Text style={{ fontSize: 15, fontWeight: 'bold', color: '#FFFFFF' }}&gt;1&lt;/Text&gt;&#10;                &lt;/Box&gt;&#10;                &lt;Box style={{ flexDirection: 'column', gap: 6 }}&gt;&#10;                    &lt;Text style={{ fontSize: 20, fontWeight: 'bold', color: '#1F2937' }}&gt;真实录音能不能上公有云？&lt;/Text&gt;&#10;                    &lt;Text style={{ fontSize: 15, color: 'rgba(31,41,55,0.72)', lineHeight: 1.5 }}&gt;录音中含客户监控账号密码等敏感信息。上云转写最快；若不能出内网，需改用本地方案，依赖与运维成本都会上升。&lt;/Text&gt;&#10;                    &lt;Text style={{ fontSize: 14, color: '#E2703A', lineHeight: 1.5, borderLeft: '3px solid #E2703A', paddingLeft: 12 }}&gt;不定 → 现有做法是否合规无法确认，存在数据外流风险。&lt;/Text&gt;&#10;                &lt;/Box&gt;&#10;            &lt;/Box&gt;&#10;&#10;            &lt;Box style={{ background: '#E8EEF7', borderRadius: 8, padding: 18, flexDirection: 'row', gap: 18 }}&gt;&#10;                &lt;Box style={{ width: 30, height: 30, borderRadius: 15, background: '#E2703A', justifyContent: 'center', alignItems: 'center' }}&gt;&#10;                    &lt;Text style={{ fontSize: 15, fontWeight: 'bold', color: '#FFFFFF' }}&gt;2&lt;/Text&gt;&#10;                &lt;/Box&gt;&#10;                &lt;Box style={{ flexDirection: 'column', gap: 6 }}&gt;&#10;                    &lt;Text style={{ fontSize: 20, fontWeight: 'bold', color: '#1F2937' }}&gt;域名备案什么时候能下来？&lt;/Text&gt;&#10;                    &lt;Text style={{ fontSize: 15, color: 'rgba(31,41,55,0.72)', lineHeight: 1.5 }}&gt;备案通过前只能用公网 IP 加 HTTP 访问，拿不到正式域名与 HTTPS，无法开启会话安全加固。&lt;/Text&gt;&#10;                    &lt;Text style={{ fontSize: 14, color: '#E2703A', lineHeight: 1.5, borderLeft: '3px solid #E2703A', paddingLeft: 12 }}&gt;不定 → 内网试点不受影响，但对外推广会被卡住。&lt;/Text&gt;&#10;                &lt;/Box&gt;&#10;            &lt;/Box&gt;&#10;&#10;            &lt;Box style={{ background: '#E8EEF7', borderRadius: 8, padding: 18, flexDirection: 'row', gap: 18 }}&gt;&#10;                &lt;Box style={{ width: 30, height: 30, borderRadius: 15, background: '#E2703A', justifyContent: 'center', alignItems: 'center' }}&gt;&#10;                    &lt;Text style={{ fontSize: 15, fontWeight: 'bold', color: '#FFFFFF' }}&gt;3&lt;/Text&gt;&#10;                &lt;/Box&gt;&#10;                &lt;Box style={{ flexDirection: 'column', gap: 6 }}&gt;&#10;                    &lt;Text style={{ fontSize: 20, fontWeight: 'bold', color: '#1F2937' }}&gt;有没有可用于报价的真实价格表？&lt;/Text&gt;&#10;                    &lt;Text style={{ fontSize: 15, color: 'rgba(31,41,55,0.72)', lineHeight: 1.5 }}&gt;当前费用估算中的单价是演示假设值，报价能力已从活动工作流中停用；系统目前只产出结构性材料。&lt;/Text&gt;&#10;                    &lt;Text style={{ fontSize: 14, color: '#E2703A', lineHeight: 1.5, borderLeft: '3px solid #E2703A', paddingLeft: 12 }}&gt;不定 → 材料不能作为对外报价依据，只能内部沟通使用。&lt;/Text&gt;&#10;                &lt;/Box&gt;&#10;            &lt;/Box&gt;&#10;        &lt;/Box&gt;&#10;    &lt;/Box&gt;&#10;&#10;    {/* C · 页脚条 */}&#10;    &lt;Box style={{ height: 48, flexDirection: 'row', justifyContent: 'space-between', alignItems: 'center' }}&gt;&#10;        &lt;Text style={{ fontSize: 14, color: 'rgba(31,41,55,0.45)' }}&gt;灵石解决方案工作台 · 进展汇报&lt;/Text&gt;&#10;        &lt;Text style={{ fontSize: 14, color: 'rgba(31,41,55,0.45)' }}&gt;11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决策</a:t>
            </a:r>
            <a:r>
              <a:rPr lang="en-US" sz="1050" b="1" spc="150">
                <a:solidFill>
                  <a:srgbClr val="2F5597"/>
                </a:solidFill>
                <a:latin typeface="Microsoft YaHei"/>
                <a:ea typeface="Microsoft YaHei"/>
              </a:rPr>
              <a:t> · DECISIONS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三件事定了，就能进一线试点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1219200"/>
            <a:ext cx="3209925" cy="4991100"/>
          </a:xfrm>
          <a:prstGeom prst="roundRect">
            <a:avLst>
              <a:gd name="adj" fmla="val 2374"/>
            </a:avLst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76300" y="1485900"/>
            <a:ext cx="2676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需要拍板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76300" y="1790700"/>
            <a:ext cx="2676525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三条口径，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只能由业务定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76300" y="2819400"/>
            <a:ext cx="26765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84000"/>
                  </a:srgbClr>
                </a:solidFill>
                <a:latin typeface="Microsoft YaHei"/>
                <a:ea typeface="Microsoft YaHei"/>
              </a:rPr>
              <a:t>这三条不是技术问题，而是合规与商务口径问题，技术侧无权假设。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76300" y="5267325"/>
            <a:ext cx="2676525" cy="685800"/>
          </a:xfrm>
          <a:custGeom>
            <a:pathLst>
              <a:path w="281" h="72">
                <a:moveTo>
                  <a:pt x="0" y="0"/>
                </a:moveTo>
                <a:lnTo>
                  <a:pt x="281" y="0"/>
                </a:lnTo>
                <a:lnTo>
                  <a:pt x="28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76300" y="5429250"/>
            <a:ext cx="2676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另有一条上线硬性动作：五个分部的初始口令必须在试点前全部更换。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4086225" y="1219200"/>
            <a:ext cx="7496175" cy="1447800"/>
          </a:xfrm>
          <a:prstGeom prst="roundRect">
            <a:avLst>
              <a:gd name="adj" fmla="val 5263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4257675" y="13906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352925" y="14478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695825" y="1390650"/>
            <a:ext cx="6715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真实录音能不能上公有云？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695825" y="1676400"/>
            <a:ext cx="6715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录音中含客户监控账号密码等敏感信息。上云转写最快；若不能出内网，需改用本地方案，依赖与运维成本都会上升。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695825" y="2247900"/>
            <a:ext cx="6715125" cy="247650"/>
          </a:xfrm>
          <a:prstGeom prst="rect"/>
        </p:spPr>
        <p:txBody>
          <a:bodyPr wrap="none" lIns="85725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2703A"/>
                </a:solidFill>
                <a:latin typeface="Microsoft YaHei"/>
                <a:ea typeface="Microsoft YaHei"/>
              </a:rPr>
              <a:t>不定</a:t>
            </a:r>
            <a:r>
              <a:rPr lang="en-US" sz="1050">
                <a:solidFill>
                  <a:srgbClr val="E2703A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E2703A"/>
                </a:solidFill>
                <a:latin typeface="Microsoft YaHei"/>
                <a:ea typeface="Microsoft YaHei"/>
              </a:rPr>
              <a:t>现有做法是否合规无法确认，存在数据外流风险。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086225" y="3248025"/>
            <a:ext cx="7496175" cy="1190625"/>
          </a:xfrm>
          <a:prstGeom prst="roundRect">
            <a:avLst>
              <a:gd name="adj" fmla="val 640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4257675" y="34194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52925" y="34766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714875" y="341947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域名备案什么时候能下来？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714875" y="370522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备案通过前只能用公网</a:t>
            </a:r>
            <a:r>
              <a:rPr lang="en-US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IP </a:t>
            </a: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加</a:t>
            </a:r>
            <a:r>
              <a:rPr lang="en-US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HTTP </a:t>
            </a: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访问，拿不到正式域名与</a:t>
            </a:r>
            <a:r>
              <a:rPr lang="en-US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 HTTPS</a:t>
            </a: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，无法开启会话安全加固。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714875" y="4019550"/>
            <a:ext cx="6019800" cy="247650"/>
          </a:xfrm>
          <a:prstGeom prst="rect"/>
        </p:spPr>
        <p:txBody>
          <a:bodyPr wrap="none" lIns="85725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2703A"/>
                </a:solidFill>
                <a:latin typeface="Microsoft YaHei"/>
                <a:ea typeface="Microsoft YaHei"/>
              </a:rPr>
              <a:t>不定</a:t>
            </a:r>
            <a:r>
              <a:rPr lang="en-US" sz="1050">
                <a:solidFill>
                  <a:srgbClr val="E2703A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E2703A"/>
                </a:solidFill>
                <a:latin typeface="Microsoft YaHei"/>
                <a:ea typeface="Microsoft YaHei"/>
              </a:rPr>
              <a:t>内网试点不受影响，但对外推广会被卡住。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086225" y="5019675"/>
            <a:ext cx="7496175" cy="1190625"/>
          </a:xfrm>
          <a:prstGeom prst="roundRect">
            <a:avLst>
              <a:gd name="adj" fmla="val 6400"/>
            </a:avLst>
          </a:prstGeom>
          <a:solidFill>
            <a:srgbClr val="E8EEF7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4257675" y="51911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352925" y="52482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714875" y="5191125"/>
            <a:ext cx="6429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937"/>
                </a:solidFill>
                <a:latin typeface="Microsoft YaHei"/>
                <a:ea typeface="Microsoft YaHei"/>
              </a:rPr>
              <a:t>有没有可用于报价的真实价格表？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714875" y="5476875"/>
            <a:ext cx="6429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937">
                    <a:alpha val="72000"/>
                  </a:srgbClr>
                </a:solidFill>
                <a:latin typeface="Microsoft YaHei"/>
                <a:ea typeface="Microsoft YaHei"/>
              </a:rPr>
              <a:t>当前费用估算中的单价是演示假设值，报价能力已从活动工作流中停用；系统目前只产出结构性材料。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714875" y="5791200"/>
            <a:ext cx="6429375" cy="247650"/>
          </a:xfrm>
          <a:prstGeom prst="rect"/>
        </p:spPr>
        <p:txBody>
          <a:bodyPr wrap="none" lIns="85725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2703A"/>
                </a:solidFill>
                <a:latin typeface="Microsoft YaHei"/>
                <a:ea typeface="Microsoft YaHei"/>
              </a:rPr>
              <a:t>不定</a:t>
            </a:r>
            <a:r>
              <a:rPr lang="en-US" sz="1050">
                <a:solidFill>
                  <a:srgbClr val="E2703A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E2703A"/>
                </a:solidFill>
                <a:latin typeface="Microsoft YaHei"/>
                <a:ea typeface="Microsoft YaHei"/>
              </a:rPr>
              <a:t>材料不能作为对外报价依据，只能内部沟通使用。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灵石解决方案工作台</a:t>
            </a: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252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2937">
                    <a:alpha val="45000"/>
                  </a:srgbClr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width: 1280, height: 720, padding: '72px 84px', flexDirection: 'column', background: '#2F5597', fontFamily: 'Microsoft YaHei' }}&gt;&#10;    &lt;Text style={{ fontSize: 14, fontWeight: 'bold', color: 'rgba(255,255,255,0.60)', letterSpacing: 4 }}&gt;下一步 · NEXT&lt;/Text&gt;&#10;&#10;    &lt;Text style={{ fontSize: 60, fontWeight: 'bold', color: '#FFFFFF', lineHeight: 1.2, marginTop: 28 }}&gt;&#10;        先把一个分部的踏勘链路跑顺，&lt;br /&gt;再谈规模化&#10;    &lt;/Text&gt;&#10;&#10;    &lt;Box style={{ width: 108, height: 4, background: '#E2703A', marginTop: 36 }} /&gt;&#10;&#10;    &lt;Box style={{ flexDirection: 'row', gap: 48, marginTop: 46 }}&gt;&#10;        &lt;Box style={{ flex: 1, flexDirection: 'column', borderTop: '2px solid rgba(255,255,255,0.30)', paddingTop: 20 }}&gt;&#10;            &lt;Text style={{ fontSize: 13, fontWeight: 'bold', color: 'rgba(255,255,255,0.62)', letterSpacing: 2 }}&gt;短期 · 1 个月内&lt;/Text&gt;&#10;            &lt;Text style={{ fontSize: 20, fontWeight: 'bold', color: '#FFFFFF', marginTop: 10 }}&gt;内网部署 + 分部试点&lt;/Text&gt;&#10;            &lt;Text style={{ fontSize: 16, color: 'rgba(255,255,255,0.82)', lineHeight: 1.6, marginTop: 10 }}&gt;选 1–2 个分部试用真实踏勘；换掉初始口令，配齐密钥环境变量。&lt;/Text&gt;&#10;        &lt;/Box&gt;&#10;&#10;        &lt;Box style={{ flex: 1, flexDirection: 'column', borderTop: '2px solid rgba(255,255,255,0.30)', paddingTop: 20 }}&gt;&#10;            &lt;Text style={{ fontSize: 13, fontWeight: 'bold', color: 'rgba(255,255,255,0.62)', letterSpacing: 2 }}&gt;中期 · 本季度&lt;/Text&gt;&#10;            &lt;Text style={{ fontSize: 20, fontWeight: 'bold', color: '#FFFFFF', marginTop: 10 }}&gt;补齐字段 + 扩展产品&lt;/Text&gt;&#10;            &lt;Text style={{ fontSize: 16, color: 'rgba(255,255,255,0.82)', lineHeight: 1.6, marginTop: 10 }}&gt;补上接入可行性与需求意向两类字段，扩展能源管家与设备管家。&lt;/Text&gt;&#10;        &lt;/Box&gt;&#10;&#10;        &lt;Box style={{ flex: 1, flexDirection: 'column', borderTop: '2px solid rgba(255,255,255,0.30)', paddingTop: 20 }}&gt;&#10;            &lt;Text style={{ fontSize: 13, fontWeight: 'bold', color: 'rgba(255,255,255,0.62)', letterSpacing: 2 }}&gt;长期 · 视条件推进&lt;/Text&gt;&#10;            &lt;Text style={{ fontSize: 20, fontWeight: 'bold', color: '#FFFFFF', marginTop: 10 }}&gt;现场图片 + 报价能力&lt;/Text&gt;&#10;            &lt;Text style={{ fontSize: 16, color: 'rgba(255,255,255,0.82)', lineHeight: 1.6, marginTop: 10 }}&gt;接入现场照片与点位图；等真实价格表到位后恢复报价能力。&lt;/Text&gt;&#10;        &lt;/Box&gt;&#10;    &lt;/Box&gt;&#10;&#10;    &lt;Box style={{ marginTop: 'auto', borderTop: '1px solid rgba(255,255,255,0.24)', paddingTop: 20, flexDirection: 'row', justifyContent: 'space-between', alignItems: 'center' }}&gt;&#10;        &lt;Text style={{ fontSize: 17, color: 'rgba(255,255,255,0.90)' }}&gt;本次汇报到此，请就三条决策给出结论，我即可推进试点部署。&lt;/Text&gt;&#10;        &lt;Text style={{ fontSize: 14, color: 'rgba(255,255,255,0.52)' }}&gt;12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00100" y="6858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3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下一步</a:t>
            </a:r>
            <a:r>
              <a:rPr lang="en-US" sz="1050" b="1" spc="3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· NEXT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647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先把一个分部的踏勘链路跑顺，</a:t>
            </a:r>
            <a:endParaRPr/>
          </a:p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再谈规模化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800100" y="3105150"/>
            <a:ext cx="1028700" cy="38100"/>
          </a:xfrm>
          <a:prstGeom prst="rect">
            <a:avLst/>
          </a:prstGeom>
          <a:solidFill>
            <a:srgbClr val="E2703A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800100" y="3581400"/>
            <a:ext cx="3228975" cy="1390650"/>
          </a:xfrm>
          <a:custGeom>
            <a:pathLst>
              <a:path w="339" h="146">
                <a:moveTo>
                  <a:pt x="0" y="0"/>
                </a:moveTo>
                <a:lnTo>
                  <a:pt x="339" y="0"/>
                </a:lnTo>
                <a:lnTo>
                  <a:pt x="339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00100" y="3790950"/>
            <a:ext cx="3228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短期</a:t>
            </a:r>
            <a:r>
              <a:rPr lang="en-US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 · 1 </a:t>
            </a:r>
            <a:r>
              <a:rPr lang="zh-CN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个月内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00100" y="4038600"/>
            <a:ext cx="3228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内网部署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分部试点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32289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选</a:t>
            </a:r>
            <a:r>
              <a:rPr lang="en-US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 1–2 </a:t>
            </a:r>
            <a:r>
              <a:rPr lang="zh-CN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个分部试用真实踏勘；换掉初始口令，配齐密钥环境变量。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486275" y="3581400"/>
            <a:ext cx="3219450" cy="1390650"/>
          </a:xfrm>
          <a:custGeom>
            <a:pathLst>
              <a:path w="338" h="146">
                <a:moveTo>
                  <a:pt x="0" y="0"/>
                </a:moveTo>
                <a:lnTo>
                  <a:pt x="338" y="0"/>
                </a:lnTo>
                <a:lnTo>
                  <a:pt x="33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486275" y="3790950"/>
            <a:ext cx="3219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中期</a:t>
            </a:r>
            <a:r>
              <a:rPr lang="en-US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本季度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486275" y="4038600"/>
            <a:ext cx="3219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补齐字段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扩展产品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486275" y="4362450"/>
            <a:ext cx="32194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补上接入可行性与需求意向两类字段，扩展能源管家与设备管家。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162925" y="3581400"/>
            <a:ext cx="3228975" cy="1390650"/>
          </a:xfrm>
          <a:custGeom>
            <a:pathLst>
              <a:path w="339" h="146">
                <a:moveTo>
                  <a:pt x="0" y="0"/>
                </a:moveTo>
                <a:lnTo>
                  <a:pt x="339" y="0"/>
                </a:lnTo>
                <a:lnTo>
                  <a:pt x="339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162925" y="3790950"/>
            <a:ext cx="3228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长期</a:t>
            </a:r>
            <a:r>
              <a:rPr lang="en-US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b="1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视条件推进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162925" y="4038600"/>
            <a:ext cx="3228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现场图片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报价能力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162925" y="4362450"/>
            <a:ext cx="32289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接入现场照片与点位图；等真实价格表到位后恢复报价能力。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00100" y="5772150"/>
            <a:ext cx="10591800" cy="409575"/>
          </a:xfrm>
          <a:custGeom>
            <a:pathLst>
              <a:path w="1112" h="43">
                <a:moveTo>
                  <a:pt x="0" y="0"/>
                </a:moveTo>
                <a:lnTo>
                  <a:pt x="1112" y="0"/>
                </a:lnTo>
                <a:lnTo>
                  <a:pt x="11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00100" y="5972175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本次汇报到此，请就三条决策给出结论，我即可推进试点部署。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934700" y="59912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2000"/>
                  </a:srgbClr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2026-09-21T15:41:04Z</dcterms:created>
  <dcterms:modified xsi:type="dcterms:W3CDTF">2026-09-21T15:41:04Z</dcterms:modified>
</cp:coreProperties>
</file>